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Sounic Akkaraju from the University of Twente. Joint work with Marko Haralović, who shares first authorship, with Carlo Baretta, Vasil Zapryanov and Alexia Briassouli. One-line version: fine-tuning MedSAM can make it worse on exactly the data you did not have, and we can point to the part of the network that is responsible.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MedSAM is the medical Segment Anything: image plus bounding box in, mask out. Three problems in deployment, usually studied separately. ROI sensitivity: the box matters and clinicians draw loose boxes. Distribution shift: change scanner, organ or modality and accuracy falls. Adaptation cost: fine-tuning helps in-domain but is expensive; LoRA and VPT are cheap but sensitive. We evaluate all three jointly, then ask which internal representations explain who survives.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strategies plus frozen zero-shot. Decoder-only, VPT shallow and deep with the decoder trained, LoRA rank 8 on encoder and decoder, encoder-only LoRA with the decoder frozen, and full fine-tuning at a lower learning rate. Trained once on ISIC 2018, five epochs, three seeds, prompt encoder frozen. Drift ladder: ISIC test in-domain, PH2 close-OOD, BUSI ultrasound and CBIS-DDSM mammography far-OOD. Prompt protocol: train clean, fixed 20 px or random 0-100 px; evaluate 0 to 200 px. 200 px almost triples box area, fourteen-fold on small mammography lesions. [3:15]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boxes everywhere. Column by column: in-domain every adapter beats zero-shot, Full FT and encoder-only LoRA top at 0.96. Walk right: on ultrasound and mammography LoRA and both VPTs drop below zero-shot. LoRA gets 0.51 on mammography; zero-shot with no training gets 0.69. Two adapters keep their gains: Full FT at 0.83, and encoder-only LoRA at 0.79, same adapter as LoRA with the decoder frozen. That one change is worth 0.28 Dice. Hold on to that contrast. [4:45]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 understates it. HD95 median and IQR. On ultrasound encoder-only LoRA's median is 3 px, Full FT 4. LoRA's median is 26, but the upper quartile is 402 px; on mammography 438. That is a quarter of far-OOD cases where the model segments the wrong structure. Dice gap 0.12, boundary gap tenfold. Adaptation hurts means catastrophic failures on a subset, not a uniform small loss. [5:45]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axis, all models trained on clean boxes. Zero-shot row first: 20 px of slack on mammography goes up, 0.69 to 0.75. MedSAM likes a little room. Every adapted model goes down. At 100 px, zero-shot is the best model on both far-OOD datasets. Last row: in-domain at 200 px encoder-only LoRA becomes the most jitter-sensitive model of all, 0.65 against 0.77. Clean-box training unlearns the prompt tolerance MedSAM came with. [7:00]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with jitter. Mean Dice gain over zero-shot, clean-trained then rand100-trained. In-domain everyone improves: Full FT to plus 0.034, encoder-only LoRA to plus 0.053; Full FT at 200 px goes 0.71 to 0.84. Fixed 20 px training does not do this. Far-OOD column: jitter training costs every method, but the size differs. Full FT one and a half points, encoder-only LoRA three, LoRA, decoder-only and VPT eight to ten; LoRA on mammography 0.51 to 0.21. Overall column: only Full FT and encoder-only LoRA end above zero-shot. Those two adapters, and random jitter, are what we recommend. [8:30]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LoRA collapse and encoder-only LoRA survive when they change the same encoder weights? Linear CKA between each adapted model and base MedSAM, component by component, correlated with Dice gain across all methods, seeds and jitter levels. In-domain and close-OOD nothing correlates; drift is free there. Far-OOD the decoder-side features light up: IoU token 0.76, output layer 0.76, decoder layers 0.73, upscaled embedding 0.71. Encoder layers: 0.09. Encoder similarity is even weakly negative in-domain. Decoder CKA on mammography follows the Dice ranking exactly. It is not how much the representation drifts, it is where. Caveat: pooled observations, descriptive p-values.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story component by component, left to right through the network. Encoder blocks: LoRA, VPT and encoder-only LoRA all drift, down to 0.4 to 0.6 at the image embedding. Encoder-only LoRA drifts as much as LoRA and is still robust, so encoder drift is not the problem. Decoder: decoder-only, Full FT and encoder-only LoRA stay at 0.7 to 0.9. LoRA and VPT collapse to 0.2 or 0.3 at the final attention queries and the IoU and mask tokens, the components that turn a prompt into a mask. That mapping is the transferable part of MedSAM. Encoder-only LoRA works because it adapts the encoder to the visual shift and leaves that mapping alone. [10:30]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a site do? Compute available and far-OOD data expected: full fine-tuning at a low learning rate, best trade-off in every regime. Parameter-efficient: encoder-only LoRA, decoder frozen, best PEFT far-OOD and competitive with Full FT. Only the training domain with clean prompts: standard LoRA still gives the largest in-domain gain. Whatever you pick, train with random 0-100 px jitter. We would not recommend VPT on MedSAM in any regime. Under severe prompt noise on far-OOD data, zero-shot MedSAM is still the model to beat; keep it as a fallback. [11:15]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caveats. The ladder is asymmetric: one training domain and two far-OOD targets, so modality shift is confounded with lesion-type mismatch; read the ranking, not the absolute Dice. The same pixel jitter is a much harder task far-OOD. The CKA correlations are descriptive. And the recipe is fixed: five epochs, rank 8, ten prompt tokens, VPT as additive perturbation because of SAM's windowed attention. [11:40]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Adaptation can hurt: LoRA and VPT beat zero-shot in-domain and fall below it far-OOD, with boundary errors in the hundreds of pixels. Prompt noise must be trained for: random jitter gives the most reliable adapters, and only Full FT and encoder-only LoRA end up above zero-shot overall. The decoder is the locus: preserving decoder and output representations predicts far-OOD robustness, encoder similarity does not, and encoder-only LoRA follows from that. Code and configs are on GitHub. Thank you; I will be at the poster over lunch.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3C"/>
        </a:solidFill>
      </p:bgPr>
    </p:bg>
    <p:spTree>
      <p:nvGrpSpPr>
        <p:cNvPr id="1" name=""/>
        <p:cNvGrpSpPr/>
        <p:nvPr/>
      </p:nvGrpSpPr>
      <p:grpSpPr>
        <a:xfrm>
          <a:off x="0" y="0"/>
          <a:ext cx="0" cy="0"/>
          <a:chOff x="0" y="0"/>
          <a:chExt cx="0" cy="0"/>
        </a:xfrm>
      </p:grpSpPr>
      <p:sp>
        <p:nvSpPr>
          <p:cNvPr id="2" name="Shape 6"/>
          <p:cNvSpPr/>
          <p:nvPr/>
        </p:nvSpPr>
        <p:spPr>
          <a:xfrm>
            <a:off x="10362895" y="457200"/>
            <a:ext cx="1371600" cy="1371600"/>
          </a:xfrm>
          <a:prstGeom prst="roundRect">
            <a:avLst>
              <a:gd name="adj" fmla="val 6667"/>
            </a:avLst>
          </a:prstGeom>
          <a:solidFill>
            <a:srgbClr val="FFFFFF"/>
          </a:solidFill>
          <a:ln w="12700">
            <a:solidFill>
              <a:srgbClr val="FFFFFF"/>
            </a:solidFill>
            <a:prstDash val="solid"/>
          </a:ln>
        </p:spPr>
      </p:sp>
      <p:sp>
        <p:nvSpPr>
          <p:cNvPr id="3" name="Text 0"/>
          <p:cNvSpPr txBox="1"/>
          <p:nvPr/>
        </p:nvSpPr>
        <p:spPr>
          <a:xfrm>
            <a:off x="457200" y="502920"/>
            <a:ext cx="9144000" cy="274320"/>
          </a:xfrm>
          <a:prstGeom prst="rect">
            <a:avLst/>
          </a:prstGeom>
          <a:noFill/>
          <a:ln/>
        </p:spPr>
        <p:txBody>
          <a:bodyPr wrap="square" lIns="0" tIns="0" rIns="0" bIns="0" rtlCol="0" anchor="ctr"/>
          <a:lstStyle/>
          <a:p>
            <a:pPr indent="0" marL="0">
              <a:buNone/>
            </a:pPr>
            <a:r>
              <a:rPr lang="en-US" sz="1100" b="1" spc="200" kern="0" dirty="0">
                <a:solidFill>
                  <a:srgbClr val="9FD1D6"/>
                </a:solidFill>
                <a:latin typeface="Calibri" pitchFamily="34" charset="0"/>
                <a:ea typeface="Calibri" pitchFamily="34" charset="-122"/>
                <a:cs typeface="Calibri" pitchFamily="34" charset="-120"/>
              </a:rPr>
              <a:t>MICCAI 2026 · SAFER WORKSHOP · STRASBOURG · 27 SEPTEMBER 2026</a:t>
            </a:r>
            <a:endParaRPr lang="en-US" sz="1100" dirty="0"/>
          </a:p>
        </p:txBody>
      </p:sp>
      <p:sp>
        <p:nvSpPr>
          <p:cNvPr id="4" name="Text 1"/>
          <p:cNvSpPr txBox="1"/>
          <p:nvPr/>
        </p:nvSpPr>
        <p:spPr>
          <a:xfrm>
            <a:off x="457200" y="868680"/>
            <a:ext cx="8778240" cy="9144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When Adaptation Hurts</a:t>
            </a:r>
            <a:endParaRPr lang="en-US" sz="5200" dirty="0"/>
          </a:p>
        </p:txBody>
      </p:sp>
      <p:sp>
        <p:nvSpPr>
          <p:cNvPr id="5" name="Text 2"/>
          <p:cNvSpPr txBox="1"/>
          <p:nvPr/>
        </p:nvSpPr>
        <p:spPr>
          <a:xfrm>
            <a:off x="457200" y="1828800"/>
            <a:ext cx="8961120" cy="457200"/>
          </a:xfrm>
          <a:prstGeom prst="rect">
            <a:avLst/>
          </a:prstGeom>
          <a:noFill/>
          <a:ln/>
        </p:spPr>
        <p:txBody>
          <a:bodyPr wrap="square" lIns="0" tIns="0" rIns="0" bIns="0" rtlCol="0" anchor="t"/>
          <a:lstStyle/>
          <a:p>
            <a:pPr indent="0" marL="0">
              <a:buNone/>
            </a:pPr>
            <a:r>
              <a:rPr lang="en-US" sz="2100" dirty="0">
                <a:solidFill>
                  <a:srgbClr val="DDEDEF"/>
                </a:solidFill>
                <a:latin typeface="Calibri" pitchFamily="34" charset="0"/>
                <a:ea typeface="Calibri" pitchFamily="34" charset="-122"/>
                <a:cs typeface="Calibri" pitchFamily="34" charset="-120"/>
              </a:rPr>
              <a:t>Connecting Representational Drift to OOD Failures in MedSAM Fine-Tuning</a:t>
            </a:r>
            <a:endParaRPr lang="en-US" sz="2100" dirty="0"/>
          </a:p>
        </p:txBody>
      </p:sp>
      <p:sp>
        <p:nvSpPr>
          <p:cNvPr id="6" name="Text 3"/>
          <p:cNvSpPr txBox="1"/>
          <p:nvPr/>
        </p:nvSpPr>
        <p:spPr>
          <a:xfrm>
            <a:off x="457200" y="2514600"/>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Marko Haralović</a:t>
            </a:r>
            <a:pPr indent="0" marL="0">
              <a:buNone/>
            </a:pPr>
            <a:r>
              <a:rPr lang="en-US" sz="1600" baseline="30000" dirty="0">
                <a:solidFill>
                  <a:srgbClr val="FFFFFF"/>
                </a:solidFill>
                <a:latin typeface="Calibri" pitchFamily="34" charset="0"/>
                <a:ea typeface="Calibri" pitchFamily="34" charset="-122"/>
                <a:cs typeface="Calibri" pitchFamily="34" charset="-120"/>
              </a:rPr>
              <a:t>1,2,*</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b="1" dirty="0">
                <a:solidFill>
                  <a:srgbClr val="FFFFFF"/>
                </a:solidFill>
                <a:latin typeface="Calibri" pitchFamily="34" charset="0"/>
                <a:ea typeface="Calibri" pitchFamily="34" charset="-122"/>
                <a:cs typeface="Calibri" pitchFamily="34" charset="-120"/>
              </a:rPr>
              <a:t>Sounic Akkaraju</a:t>
            </a:r>
            <a:pPr indent="0" marL="0">
              <a:buNone/>
            </a:pPr>
            <a:r>
              <a:rPr lang="en-US" sz="1600" baseline="30000" dirty="0">
                <a:solidFill>
                  <a:srgbClr val="FFFFFF"/>
                </a:solidFill>
                <a:latin typeface="Calibri" pitchFamily="34" charset="0"/>
                <a:ea typeface="Calibri" pitchFamily="34" charset="-122"/>
                <a:cs typeface="Calibri" pitchFamily="34" charset="-120"/>
              </a:rPr>
              <a:t>2,*</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b="1" dirty="0">
                <a:solidFill>
                  <a:srgbClr val="FFFFFF"/>
                </a:solidFill>
                <a:latin typeface="Calibri" pitchFamily="34" charset="0"/>
                <a:ea typeface="Calibri" pitchFamily="34" charset="-122"/>
                <a:cs typeface="Calibri" pitchFamily="34" charset="-120"/>
              </a:rPr>
              <a:t>Carlo Baretta</a:t>
            </a:r>
            <a:pPr indent="0" marL="0">
              <a:buNone/>
            </a:pPr>
            <a:r>
              <a:rPr lang="en-US" sz="1600" baseline="30000" dirty="0">
                <a:solidFill>
                  <a:srgbClr val="FFFFFF"/>
                </a:solidFill>
                <a:latin typeface="Calibri" pitchFamily="34" charset="0"/>
                <a:ea typeface="Calibri" pitchFamily="34" charset="-122"/>
                <a:cs typeface="Calibri" pitchFamily="34" charset="-120"/>
              </a:rPr>
              <a:t>2</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b="1" dirty="0">
                <a:solidFill>
                  <a:srgbClr val="FFFFFF"/>
                </a:solidFill>
                <a:latin typeface="Calibri" pitchFamily="34" charset="0"/>
                <a:ea typeface="Calibri" pitchFamily="34" charset="-122"/>
                <a:cs typeface="Calibri" pitchFamily="34" charset="-120"/>
              </a:rPr>
              <a:t>Vasil Zapryanov</a:t>
            </a:r>
            <a:pPr indent="0" marL="0">
              <a:buNone/>
            </a:pPr>
            <a:r>
              <a:rPr lang="en-US" sz="1600" baseline="30000" dirty="0">
                <a:solidFill>
                  <a:srgbClr val="FFFFFF"/>
                </a:solidFill>
                <a:latin typeface="Calibri" pitchFamily="34" charset="0"/>
                <a:ea typeface="Calibri" pitchFamily="34" charset="-122"/>
                <a:cs typeface="Calibri" pitchFamily="34" charset="-120"/>
              </a:rPr>
              <a:t>2</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b="1" dirty="0">
                <a:solidFill>
                  <a:srgbClr val="FFFFFF"/>
                </a:solidFill>
                <a:latin typeface="Calibri" pitchFamily="34" charset="0"/>
                <a:ea typeface="Calibri" pitchFamily="34" charset="-122"/>
                <a:cs typeface="Calibri" pitchFamily="34" charset="-120"/>
              </a:rPr>
              <a:t>Alexia Briassouli</a:t>
            </a:r>
            <a:pPr indent="0" marL="0">
              <a:buNone/>
            </a:pPr>
            <a:r>
              <a:rPr lang="en-US" sz="1600" baseline="30000"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457200" y="2880360"/>
            <a:ext cx="9601200" cy="274320"/>
          </a:xfrm>
          <a:prstGeom prst="rect">
            <a:avLst/>
          </a:prstGeom>
          <a:noFill/>
          <a:ln/>
        </p:spPr>
        <p:txBody>
          <a:bodyPr wrap="square" lIns="0" tIns="0" rIns="0" bIns="0" rtlCol="0" anchor="ctr"/>
          <a:lstStyle/>
          <a:p>
            <a:pPr indent="0" marL="0">
              <a:buNone/>
            </a:pPr>
            <a:r>
              <a:rPr lang="en-US" sz="1200" dirty="0">
                <a:solidFill>
                  <a:srgbClr val="9FD1D6"/>
                </a:solidFill>
                <a:latin typeface="Calibri" pitchFamily="34" charset="0"/>
                <a:ea typeface="Calibri" pitchFamily="34" charset="-122"/>
                <a:cs typeface="Calibri" pitchFamily="34" charset="-120"/>
              </a:rPr>
              <a:t>1 University of Zagreb, FER   ·   2 University of Twente   ·   * equal contribution</a:t>
            </a:r>
            <a:endParaRPr lang="en-US" sz="1200" dirty="0"/>
          </a:p>
        </p:txBody>
      </p:sp>
      <p:pic>
        <p:nvPicPr>
          <p:cNvPr id="8" name="Image 0" descr="/Users/imsounic/medsam-vpt/figures/paper_visuals/prompt_perturbation_examples.png">    </p:cNvPr>
          <p:cNvPicPr>
            <a:picLocks noChangeAspect="1"/>
          </p:cNvPicPr>
          <p:nvPr/>
        </p:nvPicPr>
        <p:blipFill>
          <a:blip r:embed="rId1"/>
          <a:stretch>
            <a:fillRect/>
          </a:stretch>
        </p:blipFill>
        <p:spPr>
          <a:xfrm>
            <a:off x="457200" y="3840480"/>
            <a:ext cx="9180472" cy="2606040"/>
          </a:xfrm>
          <a:prstGeom prst="rect">
            <a:avLst/>
          </a:prstGeom>
        </p:spPr>
      </p:pic>
      <p:sp>
        <p:nvSpPr>
          <p:cNvPr id="9" name="Text 5"/>
          <p:cNvSpPr txBox="1"/>
          <p:nvPr/>
        </p:nvSpPr>
        <p:spPr>
          <a:xfrm>
            <a:off x="9911992" y="3840480"/>
            <a:ext cx="1822503" cy="2606040"/>
          </a:xfrm>
          <a:prstGeom prst="rect">
            <a:avLst/>
          </a:prstGeom>
          <a:noFill/>
          <a:ln/>
        </p:spPr>
        <p:txBody>
          <a:bodyPr wrap="square" lIns="0" tIns="0" rIns="0" bIns="0" rtlCol="0" anchor="b"/>
          <a:lstStyle/>
          <a:p>
            <a:pPr indent="0" marL="0">
              <a:buNone/>
            </a:pPr>
            <a:r>
              <a:rPr lang="en-US" sz="1300" i="1" dirty="0">
                <a:solidFill>
                  <a:srgbClr val="9FD1D6"/>
                </a:solidFill>
                <a:latin typeface="Calibri" pitchFamily="34" charset="0"/>
                <a:ea typeface="Calibri" pitchFamily="34" charset="-122"/>
                <a:cs typeface="Calibri" pitchFamily="34" charset="-120"/>
              </a:rPr>
              <a:t>Same task, four domains, one loose box.</a:t>
            </a:r>
            <a:endParaRPr lang="en-US" sz="1300" dirty="0"/>
          </a:p>
        </p:txBody>
      </p:sp>
      <p:pic>
        <p:nvPicPr>
          <p:cNvPr id="10" name="Image 1" descr="/Users/imsounic/medsam-vpt/miccai_safer_talk/pdf_images/qr_repo.png">    </p:cNvPr>
          <p:cNvPicPr>
            <a:picLocks noChangeAspect="1"/>
          </p:cNvPicPr>
          <p:nvPr/>
        </p:nvPicPr>
        <p:blipFill>
          <a:blip r:embed="rId2"/>
          <a:stretch>
            <a:fillRect/>
          </a:stretch>
        </p:blipFill>
        <p:spPr>
          <a:xfrm>
            <a:off x="10454335" y="548640"/>
            <a:ext cx="1188720" cy="1188720"/>
          </a:xfrm>
          <a:prstGeom prst="rect">
            <a:avLst/>
          </a:prstGeom>
        </p:spPr>
      </p:pic>
      <p:sp>
        <p:nvSpPr>
          <p:cNvPr id="11" name="Text 7"/>
          <p:cNvSpPr txBox="1"/>
          <p:nvPr/>
        </p:nvSpPr>
        <p:spPr>
          <a:xfrm>
            <a:off x="9357055" y="1874520"/>
            <a:ext cx="2377440" cy="274320"/>
          </a:xfrm>
          <a:prstGeom prst="rect">
            <a:avLst/>
          </a:prstGeom>
          <a:noFill/>
          <a:ln/>
        </p:spPr>
        <p:txBody>
          <a:bodyPr wrap="square" lIns="0" tIns="0" rIns="0" bIns="0" rtlCol="0" anchor="ctr"/>
          <a:lstStyle/>
          <a:p>
            <a:pPr algn="r" indent="0" marL="0">
              <a:buNone/>
            </a:pPr>
            <a:r>
              <a:rPr lang="en-US" sz="1000" dirty="0">
                <a:solidFill>
                  <a:srgbClr val="9FD1D6"/>
                </a:solidFill>
                <a:latin typeface="Calibri" pitchFamily="34" charset="0"/>
                <a:ea typeface="Calibri" pitchFamily="34" charset="-122"/>
                <a:cs typeface="Calibri" pitchFamily="34" charset="-120"/>
              </a:rPr>
              <a:t>github.com/ImSounic/medsam-vpt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4"/>
          <p:cNvSpPr/>
          <p:nvPr/>
        </p:nvSpPr>
        <p:spPr>
          <a:xfrm>
            <a:off x="457200" y="1353312"/>
            <a:ext cx="3576218" cy="1874520"/>
          </a:xfrm>
          <a:prstGeom prst="roundRect">
            <a:avLst>
              <a:gd name="adj" fmla="val 4878"/>
            </a:avLst>
          </a:prstGeom>
          <a:solidFill>
            <a:srgbClr val="F2F6F7"/>
          </a:solidFill>
          <a:ln w="12700">
            <a:solidFill>
              <a:srgbClr val="F2F6F7"/>
            </a:solidFill>
            <a:prstDash val="solid"/>
          </a:ln>
        </p:spPr>
      </p:sp>
      <p:sp>
        <p:nvSpPr>
          <p:cNvPr id="3" name="Shape 9"/>
          <p:cNvSpPr/>
          <p:nvPr/>
        </p:nvSpPr>
        <p:spPr>
          <a:xfrm>
            <a:off x="4307738" y="1353312"/>
            <a:ext cx="3576218" cy="1874520"/>
          </a:xfrm>
          <a:prstGeom prst="roundRect">
            <a:avLst>
              <a:gd name="adj" fmla="val 4878"/>
            </a:avLst>
          </a:prstGeom>
          <a:solidFill>
            <a:srgbClr val="F2F6F7"/>
          </a:solidFill>
          <a:ln w="12700">
            <a:solidFill>
              <a:srgbClr val="F2F6F7"/>
            </a:solidFill>
            <a:prstDash val="solid"/>
          </a:ln>
        </p:spPr>
      </p:sp>
      <p:sp>
        <p:nvSpPr>
          <p:cNvPr id="4" name="Shape 14"/>
          <p:cNvSpPr/>
          <p:nvPr/>
        </p:nvSpPr>
        <p:spPr>
          <a:xfrm>
            <a:off x="8158277" y="1353312"/>
            <a:ext cx="3576218" cy="1874520"/>
          </a:xfrm>
          <a:prstGeom prst="roundRect">
            <a:avLst>
              <a:gd name="adj" fmla="val 4878"/>
            </a:avLst>
          </a:prstGeom>
          <a:solidFill>
            <a:srgbClr val="F2F6F7"/>
          </a:solidFill>
          <a:ln w="12700">
            <a:solidFill>
              <a:srgbClr val="F2F6F7"/>
            </a:solidFill>
            <a:prstDash val="solid"/>
          </a:ln>
        </p:spPr>
      </p:sp>
      <p:sp>
        <p:nvSpPr>
          <p:cNvPr id="5" name="Shape 19"/>
          <p:cNvSpPr/>
          <p:nvPr/>
        </p:nvSpPr>
        <p:spPr>
          <a:xfrm>
            <a:off x="457200" y="3456432"/>
            <a:ext cx="11277295" cy="868680"/>
          </a:xfrm>
          <a:prstGeom prst="roundRect">
            <a:avLst>
              <a:gd name="adj" fmla="val 10526"/>
            </a:avLst>
          </a:prstGeom>
          <a:solidFill>
            <a:srgbClr val="DDEDEF"/>
          </a:solidFill>
          <a:ln w="12700">
            <a:solidFill>
              <a:srgbClr val="DDEDEF"/>
            </a:solidFill>
            <a:prstDash val="solid"/>
          </a:ln>
        </p:spPr>
      </p:sp>
      <p:sp>
        <p:nvSpPr>
          <p:cNvPr id="6"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7"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2 / 12</a:t>
            </a:r>
            <a:endParaRPr lang="en-US" sz="900" dirty="0"/>
          </a:p>
        </p:txBody>
      </p:sp>
      <p:sp>
        <p:nvSpPr>
          <p:cNvPr id="8"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MOTIVATION</a:t>
            </a:r>
            <a:endParaRPr lang="en-US" sz="1100" dirty="0"/>
          </a:p>
        </p:txBody>
      </p:sp>
      <p:sp>
        <p:nvSpPr>
          <p:cNvPr id="9"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Three challenges that are usually studied one at a time</a:t>
            </a:r>
            <a:endParaRPr lang="en-US" sz="2700" dirty="0"/>
          </a:p>
        </p:txBody>
      </p:sp>
      <p:sp>
        <p:nvSpPr>
          <p:cNvPr id="10" name="Shape 5"/>
          <p:cNvSpPr/>
          <p:nvPr/>
        </p:nvSpPr>
        <p:spPr>
          <a:xfrm>
            <a:off x="685800" y="1581912"/>
            <a:ext cx="384048" cy="384048"/>
          </a:xfrm>
          <a:prstGeom prst="ellipse">
            <a:avLst/>
          </a:prstGeom>
          <a:solidFill>
            <a:srgbClr val="0E7C86"/>
          </a:solidFill>
          <a:ln w="12700">
            <a:solidFill>
              <a:srgbClr val="0E7C86"/>
            </a:solidFill>
            <a:prstDash val="solid"/>
          </a:ln>
        </p:spPr>
      </p:sp>
      <p:sp>
        <p:nvSpPr>
          <p:cNvPr id="11" name="Text 6"/>
          <p:cNvSpPr txBox="1"/>
          <p:nvPr/>
        </p:nvSpPr>
        <p:spPr>
          <a:xfrm>
            <a:off x="685800" y="1581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7"/>
          <p:cNvSpPr txBox="1"/>
          <p:nvPr/>
        </p:nvSpPr>
        <p:spPr>
          <a:xfrm>
            <a:off x="1188720" y="1554480"/>
            <a:ext cx="2661818" cy="457200"/>
          </a:xfrm>
          <a:prstGeom prst="rect">
            <a:avLst/>
          </a:prstGeom>
          <a:noFill/>
          <a:ln/>
        </p:spPr>
        <p:txBody>
          <a:bodyPr wrap="square" lIns="0" tIns="0" rIns="0" bIns="0" rtlCol="0" anchor="ctr"/>
          <a:lstStyle/>
          <a:p>
            <a:pPr indent="0" marL="0">
              <a:buNone/>
            </a:pPr>
            <a:r>
              <a:rPr lang="en-US" sz="1800" b="1" dirty="0">
                <a:solidFill>
                  <a:srgbClr val="0F2F3C"/>
                </a:solidFill>
                <a:latin typeface="Calibri" pitchFamily="34" charset="0"/>
                <a:ea typeface="Calibri" pitchFamily="34" charset="-122"/>
                <a:cs typeface="Calibri" pitchFamily="34" charset="-120"/>
              </a:rPr>
              <a:t>ROI sensitivity</a:t>
            </a:r>
            <a:endParaRPr lang="en-US" sz="1800" dirty="0"/>
          </a:p>
        </p:txBody>
      </p:sp>
      <p:sp>
        <p:nvSpPr>
          <p:cNvPr id="13" name="Text 8"/>
          <p:cNvSpPr txBox="1"/>
          <p:nvPr/>
        </p:nvSpPr>
        <p:spPr>
          <a:xfrm>
            <a:off x="685800" y="2176272"/>
            <a:ext cx="3119018" cy="712470"/>
          </a:xfrm>
          <a:prstGeom prst="rect">
            <a:avLst/>
          </a:prstGeom>
          <a:noFill/>
          <a:ln/>
        </p:spPr>
        <p:txBody>
          <a:bodyPr wrap="square" lIns="0" tIns="0" rIns="0" bIns="0" rtlCol="0" anchor="t"/>
          <a:lstStyle/>
          <a:p>
            <a:pPr algn="l" indent="0" marL="0">
              <a:buNone/>
            </a:pPr>
            <a:r>
              <a:rPr lang="en-US" sz="1400" dirty="0">
                <a:solidFill>
                  <a:srgbClr val="12262E"/>
                </a:solidFill>
                <a:latin typeface="Calibri" pitchFamily="34" charset="0"/>
                <a:ea typeface="Calibri" pitchFamily="34" charset="-122"/>
                <a:cs typeface="Calibri" pitchFamily="34" charset="-120"/>
              </a:rPr>
              <a:t>MedSAM needs a bounding box. Clinical boxes are loose, inconsistent or missing, and Dice follows box quality.</a:t>
            </a:r>
            <a:endParaRPr lang="en-US" sz="1400" dirty="0"/>
          </a:p>
        </p:txBody>
      </p:sp>
      <p:sp>
        <p:nvSpPr>
          <p:cNvPr id="14" name="Shape 10"/>
          <p:cNvSpPr/>
          <p:nvPr/>
        </p:nvSpPr>
        <p:spPr>
          <a:xfrm>
            <a:off x="4536338" y="1581912"/>
            <a:ext cx="384048" cy="384048"/>
          </a:xfrm>
          <a:prstGeom prst="ellipse">
            <a:avLst/>
          </a:prstGeom>
          <a:solidFill>
            <a:srgbClr val="0E7C86"/>
          </a:solidFill>
          <a:ln w="12700">
            <a:solidFill>
              <a:srgbClr val="0E7C86"/>
            </a:solidFill>
            <a:prstDash val="solid"/>
          </a:ln>
        </p:spPr>
      </p:sp>
      <p:sp>
        <p:nvSpPr>
          <p:cNvPr id="15" name="Text 11"/>
          <p:cNvSpPr txBox="1"/>
          <p:nvPr/>
        </p:nvSpPr>
        <p:spPr>
          <a:xfrm>
            <a:off x="4536338" y="1581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5039258" y="1554480"/>
            <a:ext cx="2661818" cy="457200"/>
          </a:xfrm>
          <a:prstGeom prst="rect">
            <a:avLst/>
          </a:prstGeom>
          <a:noFill/>
          <a:ln/>
        </p:spPr>
        <p:txBody>
          <a:bodyPr wrap="square" lIns="0" tIns="0" rIns="0" bIns="0" rtlCol="0" anchor="ctr"/>
          <a:lstStyle/>
          <a:p>
            <a:pPr indent="0" marL="0">
              <a:buNone/>
            </a:pPr>
            <a:r>
              <a:rPr lang="en-US" sz="1800" b="1" dirty="0">
                <a:solidFill>
                  <a:srgbClr val="0F2F3C"/>
                </a:solidFill>
                <a:latin typeface="Calibri" pitchFamily="34" charset="0"/>
                <a:ea typeface="Calibri" pitchFamily="34" charset="-122"/>
                <a:cs typeface="Calibri" pitchFamily="34" charset="-120"/>
              </a:rPr>
              <a:t>Distribution shift</a:t>
            </a:r>
            <a:endParaRPr lang="en-US" sz="1800" dirty="0"/>
          </a:p>
        </p:txBody>
      </p:sp>
      <p:sp>
        <p:nvSpPr>
          <p:cNvPr id="17" name="Text 13"/>
          <p:cNvSpPr txBox="1"/>
          <p:nvPr/>
        </p:nvSpPr>
        <p:spPr>
          <a:xfrm>
            <a:off x="4536338" y="2176272"/>
            <a:ext cx="3119018" cy="934720"/>
          </a:xfrm>
          <a:prstGeom prst="rect">
            <a:avLst/>
          </a:prstGeom>
          <a:noFill/>
          <a:ln/>
        </p:spPr>
        <p:txBody>
          <a:bodyPr wrap="square" lIns="0" tIns="0" rIns="0" bIns="0" rtlCol="0" anchor="t"/>
          <a:lstStyle/>
          <a:p>
            <a:pPr algn="l" indent="0" marL="0">
              <a:buNone/>
            </a:pPr>
            <a:r>
              <a:rPr lang="en-US" sz="1400" dirty="0">
                <a:solidFill>
                  <a:srgbClr val="12262E"/>
                </a:solidFill>
                <a:latin typeface="Calibri" pitchFamily="34" charset="0"/>
                <a:ea typeface="Calibri" pitchFamily="34" charset="-122"/>
                <a:cs typeface="Calibri" pitchFamily="34" charset="-120"/>
              </a:rPr>
              <a:t>Change the scanner, organ or imaging modality and accuracy falls. Far-OOD transfer is where foundation models are supposed to earn their keep.</a:t>
            </a:r>
            <a:endParaRPr lang="en-US" sz="1400" dirty="0"/>
          </a:p>
        </p:txBody>
      </p:sp>
      <p:sp>
        <p:nvSpPr>
          <p:cNvPr id="18" name="Shape 15"/>
          <p:cNvSpPr/>
          <p:nvPr/>
        </p:nvSpPr>
        <p:spPr>
          <a:xfrm>
            <a:off x="8386877" y="1581912"/>
            <a:ext cx="384048" cy="384048"/>
          </a:xfrm>
          <a:prstGeom prst="ellipse">
            <a:avLst/>
          </a:prstGeom>
          <a:solidFill>
            <a:srgbClr val="0E7C86"/>
          </a:solidFill>
          <a:ln w="12700">
            <a:solidFill>
              <a:srgbClr val="0E7C86"/>
            </a:solidFill>
            <a:prstDash val="solid"/>
          </a:ln>
        </p:spPr>
      </p:sp>
      <p:sp>
        <p:nvSpPr>
          <p:cNvPr id="19" name="Text 16"/>
          <p:cNvSpPr txBox="1"/>
          <p:nvPr/>
        </p:nvSpPr>
        <p:spPr>
          <a:xfrm>
            <a:off x="8386877" y="1581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889797" y="1554480"/>
            <a:ext cx="2661818" cy="457200"/>
          </a:xfrm>
          <a:prstGeom prst="rect">
            <a:avLst/>
          </a:prstGeom>
          <a:noFill/>
          <a:ln/>
        </p:spPr>
        <p:txBody>
          <a:bodyPr wrap="square" lIns="0" tIns="0" rIns="0" bIns="0" rtlCol="0" anchor="ctr"/>
          <a:lstStyle/>
          <a:p>
            <a:pPr indent="0" marL="0">
              <a:buNone/>
            </a:pPr>
            <a:r>
              <a:rPr lang="en-US" sz="1800" b="1" dirty="0">
                <a:solidFill>
                  <a:srgbClr val="0F2F3C"/>
                </a:solidFill>
                <a:latin typeface="Calibri" pitchFamily="34" charset="0"/>
                <a:ea typeface="Calibri" pitchFamily="34" charset="-122"/>
                <a:cs typeface="Calibri" pitchFamily="34" charset="-120"/>
              </a:rPr>
              <a:t>Adaptation cost</a:t>
            </a:r>
            <a:endParaRPr lang="en-US" sz="1800" dirty="0"/>
          </a:p>
        </p:txBody>
      </p:sp>
      <p:sp>
        <p:nvSpPr>
          <p:cNvPr id="21" name="Text 18"/>
          <p:cNvSpPr txBox="1"/>
          <p:nvPr/>
        </p:nvSpPr>
        <p:spPr>
          <a:xfrm>
            <a:off x="8386877" y="2176272"/>
            <a:ext cx="3119018" cy="934720"/>
          </a:xfrm>
          <a:prstGeom prst="rect">
            <a:avLst/>
          </a:prstGeom>
          <a:noFill/>
          <a:ln/>
        </p:spPr>
        <p:txBody>
          <a:bodyPr wrap="square" lIns="0" tIns="0" rIns="0" bIns="0" rtlCol="0" anchor="t"/>
          <a:lstStyle/>
          <a:p>
            <a:pPr algn="l" indent="0" marL="0">
              <a:buNone/>
            </a:pPr>
            <a:r>
              <a:rPr lang="en-US" sz="1400" dirty="0">
                <a:solidFill>
                  <a:srgbClr val="12262E"/>
                </a:solidFill>
                <a:latin typeface="Calibri" pitchFamily="34" charset="0"/>
                <a:ea typeface="Calibri" pitchFamily="34" charset="-122"/>
                <a:cs typeface="Calibri" pitchFamily="34" charset="-120"/>
              </a:rPr>
              <a:t>Fine-tuning helps in-domain but is expensive. LoRA and VPT are cheap, yet sensitive to the data and prompts they are adapted with.</a:t>
            </a:r>
            <a:endParaRPr lang="en-US" sz="1400" dirty="0"/>
          </a:p>
        </p:txBody>
      </p:sp>
      <p:sp>
        <p:nvSpPr>
          <p:cNvPr id="22" name="Text 20"/>
          <p:cNvSpPr txBox="1"/>
          <p:nvPr/>
        </p:nvSpPr>
        <p:spPr>
          <a:xfrm>
            <a:off x="731520" y="3566160"/>
            <a:ext cx="10728655" cy="490220"/>
          </a:xfrm>
          <a:prstGeom prst="rect">
            <a:avLst/>
          </a:prstGeom>
          <a:noFill/>
          <a:ln/>
        </p:spPr>
        <p:txBody>
          <a:bodyPr wrap="square" lIns="0" tIns="0" rIns="0" bIns="0" rtlCol="0" anchor="t"/>
          <a:lstStyle/>
          <a:p>
            <a:pPr algn="l" indent="0" marL="0">
              <a:buNone/>
            </a:pPr>
            <a:r>
              <a:rPr lang="en-US" sz="1400" b="1" dirty="0">
                <a:solidFill>
                  <a:srgbClr val="12262E"/>
                </a:solidFill>
                <a:latin typeface="Calibri" pitchFamily="34" charset="0"/>
                <a:ea typeface="Calibri" pitchFamily="34" charset="-122"/>
                <a:cs typeface="Calibri" pitchFamily="34" charset="-120"/>
              </a:rPr>
              <a:t>Prior work </a:t>
            </a:r>
            <a:pPr algn="l" indent="0" marL="0">
              <a:buNone/>
            </a:pPr>
            <a:r>
              <a:rPr lang="en-US" sz="1400" dirty="0">
                <a:solidFill>
                  <a:srgbClr val="12262E"/>
                </a:solidFill>
                <a:latin typeface="Calibri" pitchFamily="34" charset="0"/>
                <a:ea typeface="Calibri" pitchFamily="34" charset="-122"/>
                <a:cs typeface="Calibri" pitchFamily="34" charset="-120"/>
              </a:rPr>
              <a:t>refines prompts, adapts to a target domain, or detects OOD inputs, each in isolation.  </a:t>
            </a:r>
            <a:pPr algn="l" indent="0" marL="0">
              <a:buNone/>
            </a:pPr>
            <a:r>
              <a:rPr lang="en-US" sz="1400" b="1" dirty="0">
                <a:solidFill>
                  <a:srgbClr val="12262E"/>
                </a:solidFill>
                <a:latin typeface="Calibri" pitchFamily="34" charset="0"/>
                <a:ea typeface="Calibri" pitchFamily="34" charset="-122"/>
                <a:cs typeface="Calibri" pitchFamily="34" charset="-120"/>
              </a:rPr>
              <a:t>This work </a:t>
            </a:r>
            <a:pPr algn="l" indent="0" marL="0">
              <a:buNone/>
            </a:pPr>
            <a:r>
              <a:rPr lang="en-US" sz="1400" dirty="0">
                <a:solidFill>
                  <a:srgbClr val="12262E"/>
                </a:solidFill>
                <a:latin typeface="Calibri" pitchFamily="34" charset="0"/>
                <a:ea typeface="Calibri" pitchFamily="34" charset="-122"/>
                <a:cs typeface="Calibri" pitchFamily="34" charset="-120"/>
              </a:rPr>
              <a:t>evaluates adaptation strategy × prompt noise × domain shift jointly, then asks which internal representations explain who survives the shift.</a:t>
            </a:r>
            <a:endParaRPr lang="en-US" sz="1400" dirty="0"/>
          </a:p>
        </p:txBody>
      </p:sp>
      <p:pic>
        <p:nvPicPr>
          <p:cNvPr id="23" name="Image 0" descr="/Users/imsounic/medsam-vpt/figures/paper_visuals/prompt_perturbation_examples.png">    </p:cNvPr>
          <p:cNvPicPr>
            <a:picLocks noChangeAspect="1"/>
          </p:cNvPicPr>
          <p:nvPr/>
        </p:nvPicPr>
        <p:blipFill>
          <a:blip r:embed="rId1"/>
          <a:stretch>
            <a:fillRect/>
          </a:stretch>
        </p:blipFill>
        <p:spPr>
          <a:xfrm>
            <a:off x="457200" y="4553712"/>
            <a:ext cx="6184739" cy="1755648"/>
          </a:xfrm>
          <a:prstGeom prst="rect">
            <a:avLst/>
          </a:prstGeom>
        </p:spPr>
      </p:pic>
      <p:sp>
        <p:nvSpPr>
          <p:cNvPr id="24" name="Text 21"/>
          <p:cNvSpPr txBox="1"/>
          <p:nvPr/>
        </p:nvSpPr>
        <p:spPr>
          <a:xfrm>
            <a:off x="6916259" y="4645152"/>
            <a:ext cx="4818236" cy="593408"/>
          </a:xfrm>
          <a:prstGeom prst="rect">
            <a:avLst/>
          </a:prstGeom>
          <a:noFill/>
          <a:ln/>
        </p:spPr>
        <p:txBody>
          <a:bodyPr wrap="square" lIns="0" tIns="0" rIns="0" bIns="0" rtlCol="0" anchor="t"/>
          <a:lstStyle/>
          <a:p>
            <a:pPr algn="l" indent="0" marL="0">
              <a:buNone/>
            </a:pPr>
            <a:r>
              <a:rPr lang="en-US" sz="1150" b="1" dirty="0">
                <a:solidFill>
                  <a:srgbClr val="5B6B72"/>
                </a:solidFill>
                <a:latin typeface="Calibri" pitchFamily="34" charset="0"/>
                <a:ea typeface="Calibri" pitchFamily="34" charset="-122"/>
                <a:cs typeface="Calibri" pitchFamily="34" charset="-120"/>
              </a:rPr>
              <a:t>Fig. 1. </a:t>
            </a:r>
            <a:pPr algn="l" indent="0" marL="0">
              <a:buNone/>
            </a:pPr>
            <a:r>
              <a:rPr lang="en-US" sz="1150" dirty="0">
                <a:solidFill>
                  <a:srgbClr val="5B6B72"/>
                </a:solidFill>
                <a:latin typeface="Calibri" pitchFamily="34" charset="0"/>
                <a:ea typeface="Calibri" pitchFamily="34" charset="-122"/>
                <a:cs typeface="Calibri" pitchFamily="34" charset="-120"/>
              </a:rPr>
              <a:t>Tight box (white, dashed), perturbed prompt (red), predicted mask (cyan). The same pixel jitter is a far larger relative change on the small far-OOD lesions in ultrasound and mammography.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4"/>
          <p:cNvSpPr/>
          <p:nvPr/>
        </p:nvSpPr>
        <p:spPr>
          <a:xfrm>
            <a:off x="457200" y="4425442"/>
            <a:ext cx="6035040" cy="1838198"/>
          </a:xfrm>
          <a:prstGeom prst="roundRect">
            <a:avLst>
              <a:gd name="adj" fmla="val 4974"/>
            </a:avLst>
          </a:prstGeom>
          <a:solidFill>
            <a:srgbClr val="F2F6F7"/>
          </a:solidFill>
          <a:ln w="12700">
            <a:solidFill>
              <a:srgbClr val="F2F6F7"/>
            </a:solidFill>
            <a:prstDash val="solid"/>
          </a:ln>
        </p:spPr>
      </p:sp>
      <p:sp>
        <p:nvSpPr>
          <p:cNvPr id="3" name="Shape 7"/>
          <p:cNvSpPr/>
          <p:nvPr/>
        </p:nvSpPr>
        <p:spPr>
          <a:xfrm>
            <a:off x="6858000" y="1764792"/>
            <a:ext cx="4876495" cy="566928"/>
          </a:xfrm>
          <a:prstGeom prst="roundRect">
            <a:avLst>
              <a:gd name="adj" fmla="val 16129"/>
            </a:avLst>
          </a:prstGeom>
          <a:solidFill>
            <a:srgbClr val="DDEDEF"/>
          </a:solidFill>
          <a:ln w="12700">
            <a:solidFill>
              <a:srgbClr val="DDEDEF"/>
            </a:solidFill>
            <a:prstDash val="solid"/>
          </a:ln>
        </p:spPr>
      </p:sp>
      <p:sp>
        <p:nvSpPr>
          <p:cNvPr id="4" name="Shape 11"/>
          <p:cNvSpPr/>
          <p:nvPr/>
        </p:nvSpPr>
        <p:spPr>
          <a:xfrm>
            <a:off x="6858000" y="2423160"/>
            <a:ext cx="4876495" cy="566928"/>
          </a:xfrm>
          <a:prstGeom prst="roundRect">
            <a:avLst>
              <a:gd name="adj" fmla="val 16129"/>
            </a:avLst>
          </a:prstGeom>
          <a:solidFill>
            <a:srgbClr val="DDEDEF"/>
          </a:solidFill>
          <a:ln w="12700">
            <a:solidFill>
              <a:srgbClr val="DDEDEF"/>
            </a:solidFill>
            <a:prstDash val="solid"/>
          </a:ln>
        </p:spPr>
      </p:sp>
      <p:sp>
        <p:nvSpPr>
          <p:cNvPr id="5" name="Shape 15"/>
          <p:cNvSpPr/>
          <p:nvPr/>
        </p:nvSpPr>
        <p:spPr>
          <a:xfrm>
            <a:off x="6858000" y="3081528"/>
            <a:ext cx="4876495" cy="566928"/>
          </a:xfrm>
          <a:prstGeom prst="roundRect">
            <a:avLst>
              <a:gd name="adj" fmla="val 16129"/>
            </a:avLst>
          </a:prstGeom>
          <a:solidFill>
            <a:srgbClr val="FBE4DE"/>
          </a:solidFill>
          <a:ln w="12700">
            <a:solidFill>
              <a:srgbClr val="FBE4DE"/>
            </a:solidFill>
            <a:prstDash val="solid"/>
          </a:ln>
        </p:spPr>
      </p:sp>
      <p:sp>
        <p:nvSpPr>
          <p:cNvPr id="6" name="Shape 19"/>
          <p:cNvSpPr/>
          <p:nvPr/>
        </p:nvSpPr>
        <p:spPr>
          <a:xfrm>
            <a:off x="6858000" y="3739896"/>
            <a:ext cx="4876495" cy="566928"/>
          </a:xfrm>
          <a:prstGeom prst="roundRect">
            <a:avLst>
              <a:gd name="adj" fmla="val 16129"/>
            </a:avLst>
          </a:prstGeom>
          <a:solidFill>
            <a:srgbClr val="FBE4DE"/>
          </a:solidFill>
          <a:ln w="12700">
            <a:solidFill>
              <a:srgbClr val="FBE4DE"/>
            </a:solidFill>
            <a:prstDash val="solid"/>
          </a:ln>
        </p:spPr>
      </p:sp>
      <p:sp>
        <p:nvSpPr>
          <p:cNvPr id="7" name="Shape 22"/>
          <p:cNvSpPr/>
          <p:nvPr/>
        </p:nvSpPr>
        <p:spPr>
          <a:xfrm>
            <a:off x="6858000" y="4489704"/>
            <a:ext cx="4876495" cy="1773936"/>
          </a:xfrm>
          <a:prstGeom prst="roundRect">
            <a:avLst>
              <a:gd name="adj" fmla="val 5155"/>
            </a:avLst>
          </a:prstGeom>
          <a:solidFill>
            <a:srgbClr val="F2F6F7"/>
          </a:solidFill>
          <a:ln w="12700">
            <a:solidFill>
              <a:srgbClr val="F2F6F7"/>
            </a:solidFill>
            <a:prstDash val="solid"/>
          </a:ln>
        </p:spPr>
      </p:sp>
      <p:sp>
        <p:nvSpPr>
          <p:cNvPr id="8" name="Shape 24"/>
          <p:cNvSpPr/>
          <p:nvPr/>
        </p:nvSpPr>
        <p:spPr>
          <a:xfrm>
            <a:off x="7040880" y="5405057"/>
            <a:ext cx="2163928" cy="721424"/>
          </a:xfrm>
          <a:prstGeom prst="roundRect">
            <a:avLst>
              <a:gd name="adj" fmla="val 12675"/>
            </a:avLst>
          </a:prstGeom>
          <a:solidFill>
            <a:srgbClr val="DDEDEF"/>
          </a:solidFill>
          <a:ln w="12700">
            <a:solidFill>
              <a:srgbClr val="DDEDEF"/>
            </a:solidFill>
            <a:prstDash val="solid"/>
          </a:ln>
        </p:spPr>
      </p:sp>
      <p:sp>
        <p:nvSpPr>
          <p:cNvPr id="9" name="Shape 27"/>
          <p:cNvSpPr/>
          <p:nvPr/>
        </p:nvSpPr>
        <p:spPr>
          <a:xfrm>
            <a:off x="9387688" y="5405057"/>
            <a:ext cx="2163928" cy="721424"/>
          </a:xfrm>
          <a:prstGeom prst="roundRect">
            <a:avLst>
              <a:gd name="adj" fmla="val 12675"/>
            </a:avLst>
          </a:prstGeom>
          <a:solidFill>
            <a:srgbClr val="FBE4DE"/>
          </a:solidFill>
          <a:ln w="12700">
            <a:solidFill>
              <a:srgbClr val="FBE4DE"/>
            </a:solidFill>
            <a:prstDash val="solid"/>
          </a:ln>
        </p:spPr>
      </p:sp>
      <p:sp>
        <p:nvSpPr>
          <p:cNvPr id="10"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11"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3 / 12</a:t>
            </a:r>
            <a:endParaRPr lang="en-US" sz="900" dirty="0"/>
          </a:p>
        </p:txBody>
      </p:sp>
      <p:sp>
        <p:nvSpPr>
          <p:cNvPr id="12"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SETUP</a:t>
            </a:r>
            <a:endParaRPr lang="en-US" sz="1100" dirty="0"/>
          </a:p>
        </p:txBody>
      </p:sp>
      <p:sp>
        <p:nvSpPr>
          <p:cNvPr id="13"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Six adapters, one training domain, a drift ladder</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6035040" cy="914400"/>
        </p:xfrm>
        <a:graphic>
          <a:graphicData uri="http://schemas.openxmlformats.org/drawingml/2006/table">
            <a:tbl>
              <a:tblPr/>
              <a:tblGrid>
                <a:gridCol w="1920240"/>
                <a:gridCol w="822960"/>
                <a:gridCol w="3291840"/>
              </a:tblGrid>
              <a:tr h="31369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Params</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is updated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Zero-shot MedSAM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reference</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Decoder-only FT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4.1M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mask decoder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503555">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VPT-shallow</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4.1M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10 prompt tokens at encoder input + decoder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503555">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VPT-deep</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4.2M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10 prompt tokens at every block + decoder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LoRA (r = 8, α = 16)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4.4M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encoder + decoder adapters</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Encoder-only LoRA</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4.1M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encoder adapters, decoder frozen</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Full FT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93.7M</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image encoder + mask decoder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bl>
          </a:graphicData>
        </a:graphic>
      </p:graphicFrame>
      <p:sp>
        <p:nvSpPr>
          <p:cNvPr id="15" name="Text 5"/>
          <p:cNvSpPr txBox="1"/>
          <p:nvPr/>
        </p:nvSpPr>
        <p:spPr>
          <a:xfrm>
            <a:off x="640080" y="4562602"/>
            <a:ext cx="5669280" cy="839470"/>
          </a:xfrm>
          <a:prstGeom prst="rect">
            <a:avLst/>
          </a:prstGeom>
          <a:noFill/>
          <a:ln/>
        </p:spPr>
        <p:txBody>
          <a:bodyPr wrap="square" lIns="0" tIns="0" rIns="0" bIns="0" rtlCol="0" anchor="t"/>
          <a:lstStyle/>
          <a:p>
            <a:pPr algn="l" indent="0" marL="0">
              <a:buNone/>
            </a:pPr>
            <a:r>
              <a:rPr lang="en-US" sz="1250" b="1" dirty="0">
                <a:solidFill>
                  <a:srgbClr val="12262E"/>
                </a:solidFill>
                <a:latin typeface="Calibri" pitchFamily="34" charset="0"/>
                <a:ea typeface="Calibri" pitchFamily="34" charset="-122"/>
                <a:cs typeface="Calibri" pitchFamily="34" charset="-120"/>
              </a:rPr>
              <a:t>Train </a:t>
            </a:r>
            <a:pPr algn="l" indent="0" marL="0">
              <a:buNone/>
            </a:pPr>
            <a:r>
              <a:rPr lang="en-US" sz="1250" dirty="0">
                <a:solidFill>
                  <a:srgbClr val="12262E"/>
                </a:solidFill>
                <a:latin typeface="Calibri" pitchFamily="34" charset="0"/>
                <a:ea typeface="Calibri" pitchFamily="34" charset="-122"/>
                <a:cs typeface="Calibri" pitchFamily="34" charset="-120"/>
              </a:rPr>
              <a:t>on ISIC 2018 dermoscopy: 2,594 images, 80/10/10 split, 5 epochs, AdamW, Dice + CE, prompt encoder frozen, 3 seeds. Full FT: LR 1e-5, batch 1. PEFT: LR 1e-4, batch 4. Hyperparameters fixed across datasets; 8 GPUs with 16–22 GB, about 8 hours per training.</a:t>
            </a:r>
            <a:endParaRPr lang="en-US" sz="1250" dirty="0"/>
          </a:p>
        </p:txBody>
      </p:sp>
      <p:sp>
        <p:nvSpPr>
          <p:cNvPr id="16" name="Text 6"/>
          <p:cNvSpPr txBox="1"/>
          <p:nvPr/>
        </p:nvSpPr>
        <p:spPr>
          <a:xfrm>
            <a:off x="6858000" y="1353312"/>
            <a:ext cx="4876495" cy="283845"/>
          </a:xfrm>
          <a:prstGeom prst="rect">
            <a:avLst/>
          </a:prstGeom>
          <a:noFill/>
          <a:ln/>
        </p:spPr>
        <p:txBody>
          <a:bodyPr wrap="square" lIns="0" tIns="0" rIns="0" bIns="0" rtlCol="0" anchor="t"/>
          <a:lstStyle/>
          <a:p>
            <a:pPr algn="l" indent="0" marL="0">
              <a:buNone/>
            </a:pPr>
            <a:r>
              <a:rPr lang="en-US" sz="1500" b="1" dirty="0">
                <a:solidFill>
                  <a:srgbClr val="12262E"/>
                </a:solidFill>
                <a:latin typeface="Calibri" pitchFamily="34" charset="0"/>
                <a:ea typeface="Calibri" pitchFamily="34" charset="-122"/>
                <a:cs typeface="Calibri" pitchFamily="34" charset="-120"/>
              </a:rPr>
              <a:t>Evaluate along a drift ladder</a:t>
            </a:r>
            <a:endParaRPr lang="en-US" sz="1500" dirty="0"/>
          </a:p>
        </p:txBody>
      </p:sp>
      <p:sp>
        <p:nvSpPr>
          <p:cNvPr id="17" name="Text 8"/>
          <p:cNvSpPr txBox="1"/>
          <p:nvPr/>
        </p:nvSpPr>
        <p:spPr>
          <a:xfrm>
            <a:off x="7040880" y="1764792"/>
            <a:ext cx="3047695" cy="566928"/>
          </a:xfrm>
          <a:prstGeom prst="rect">
            <a:avLst/>
          </a:prstGeom>
          <a:noFill/>
          <a:ln/>
        </p:spPr>
        <p:txBody>
          <a:bodyPr wrap="square" lIns="0" tIns="0" rIns="0" bIns="0" rtlCol="0" anchor="ctr"/>
          <a:lstStyle/>
          <a:p>
            <a:pPr indent="0" marL="0">
              <a:buNone/>
            </a:pPr>
            <a:r>
              <a:rPr lang="en-US" sz="1400" b="1" dirty="0">
                <a:solidFill>
                  <a:srgbClr val="12262E"/>
                </a:solidFill>
                <a:latin typeface="Calibri" pitchFamily="34" charset="0"/>
                <a:ea typeface="Calibri" pitchFamily="34" charset="-122"/>
                <a:cs typeface="Calibri" pitchFamily="34" charset="-120"/>
              </a:rPr>
              <a:t>ISIC 2018</a:t>
            </a:r>
            <a:pPr indent="0" marL="0">
              <a:buNone/>
            </a:pPr>
            <a:r>
              <a:rPr lang="en-US" sz="1200" dirty="0">
                <a:solidFill>
                  <a:srgbClr val="12262E"/>
                </a:solidFill>
                <a:latin typeface="Calibri" pitchFamily="34" charset="0"/>
                <a:ea typeface="Calibri" pitchFamily="34" charset="-122"/>
                <a:cs typeface="Calibri" pitchFamily="34" charset="-120"/>
              </a:rPr>
              <a:t>   in-domain · dermoscopy</a:t>
            </a:r>
            <a:endParaRPr lang="en-US" sz="1400" dirty="0"/>
          </a:p>
        </p:txBody>
      </p:sp>
      <p:sp>
        <p:nvSpPr>
          <p:cNvPr id="18" name="Text 9"/>
          <p:cNvSpPr txBox="1"/>
          <p:nvPr/>
        </p:nvSpPr>
        <p:spPr>
          <a:xfrm>
            <a:off x="9997135" y="1764792"/>
            <a:ext cx="1554480" cy="566928"/>
          </a:xfrm>
          <a:prstGeom prst="rect">
            <a:avLst/>
          </a:prstGeom>
          <a:noFill/>
          <a:ln/>
        </p:spPr>
        <p:txBody>
          <a:bodyPr wrap="square" lIns="0" tIns="0" rIns="0" bIns="0" rtlCol="0" anchor="ctr"/>
          <a:lstStyle/>
          <a:p>
            <a:pPr algn="r" indent="0" marL="0">
              <a:buNone/>
            </a:pPr>
            <a:r>
              <a:rPr lang="en-US" sz="1100" dirty="0">
                <a:solidFill>
                  <a:srgbClr val="5B6B72"/>
                </a:solidFill>
                <a:latin typeface="Calibri" pitchFamily="34" charset="0"/>
                <a:ea typeface="Calibri" pitchFamily="34" charset="-122"/>
                <a:cs typeface="Calibri" pitchFamily="34" charset="-120"/>
              </a:rPr>
              <a:t>1,000 test images</a:t>
            </a:r>
            <a:endParaRPr lang="en-US" sz="1100" dirty="0"/>
          </a:p>
        </p:txBody>
      </p:sp>
      <p:sp>
        <p:nvSpPr>
          <p:cNvPr id="19" name="Text 10"/>
          <p:cNvSpPr txBox="1"/>
          <p:nvPr/>
        </p:nvSpPr>
        <p:spPr>
          <a:xfrm>
            <a:off x="9113368" y="2276856"/>
            <a:ext cx="365760" cy="182880"/>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a:t>
            </a:r>
            <a:endParaRPr lang="en-US" sz="900" dirty="0"/>
          </a:p>
        </p:txBody>
      </p:sp>
      <p:sp>
        <p:nvSpPr>
          <p:cNvPr id="20" name="Text 12"/>
          <p:cNvSpPr txBox="1"/>
          <p:nvPr/>
        </p:nvSpPr>
        <p:spPr>
          <a:xfrm>
            <a:off x="7040880" y="2423160"/>
            <a:ext cx="3047695" cy="566928"/>
          </a:xfrm>
          <a:prstGeom prst="rect">
            <a:avLst/>
          </a:prstGeom>
          <a:noFill/>
          <a:ln/>
        </p:spPr>
        <p:txBody>
          <a:bodyPr wrap="square" lIns="0" tIns="0" rIns="0" bIns="0" rtlCol="0" anchor="ctr"/>
          <a:lstStyle/>
          <a:p>
            <a:pPr indent="0" marL="0">
              <a:buNone/>
            </a:pPr>
            <a:r>
              <a:rPr lang="en-US" sz="1400" b="1" dirty="0">
                <a:solidFill>
                  <a:srgbClr val="12262E"/>
                </a:solidFill>
                <a:latin typeface="Calibri" pitchFamily="34" charset="0"/>
                <a:ea typeface="Calibri" pitchFamily="34" charset="-122"/>
                <a:cs typeface="Calibri" pitchFamily="34" charset="-120"/>
              </a:rPr>
              <a:t>PH²</a:t>
            </a:r>
            <a:pPr indent="0" marL="0">
              <a:buNone/>
            </a:pPr>
            <a:r>
              <a:rPr lang="en-US" sz="1200" dirty="0">
                <a:solidFill>
                  <a:srgbClr val="12262E"/>
                </a:solidFill>
                <a:latin typeface="Calibri" pitchFamily="34" charset="0"/>
                <a:ea typeface="Calibri" pitchFamily="34" charset="-122"/>
                <a:cs typeface="Calibri" pitchFamily="34" charset="-120"/>
              </a:rPr>
              <a:t>   close-OOD · dermoscopy</a:t>
            </a:r>
            <a:endParaRPr lang="en-US" sz="1400" dirty="0"/>
          </a:p>
        </p:txBody>
      </p:sp>
      <p:sp>
        <p:nvSpPr>
          <p:cNvPr id="21" name="Text 13"/>
          <p:cNvSpPr txBox="1"/>
          <p:nvPr/>
        </p:nvSpPr>
        <p:spPr>
          <a:xfrm>
            <a:off x="9997135" y="2423160"/>
            <a:ext cx="1554480" cy="566928"/>
          </a:xfrm>
          <a:prstGeom prst="rect">
            <a:avLst/>
          </a:prstGeom>
          <a:noFill/>
          <a:ln/>
        </p:spPr>
        <p:txBody>
          <a:bodyPr wrap="square" lIns="0" tIns="0" rIns="0" bIns="0" rtlCol="0" anchor="ctr"/>
          <a:lstStyle/>
          <a:p>
            <a:pPr algn="r" indent="0" marL="0">
              <a:buNone/>
            </a:pPr>
            <a:r>
              <a:rPr lang="en-US" sz="1100" dirty="0">
                <a:solidFill>
                  <a:srgbClr val="5B6B72"/>
                </a:solidFill>
                <a:latin typeface="Calibri" pitchFamily="34" charset="0"/>
                <a:ea typeface="Calibri" pitchFamily="34" charset="-122"/>
                <a:cs typeface="Calibri" pitchFamily="34" charset="-120"/>
              </a:rPr>
              <a:t>200 images</a:t>
            </a:r>
            <a:endParaRPr lang="en-US" sz="1100" dirty="0"/>
          </a:p>
        </p:txBody>
      </p:sp>
      <p:sp>
        <p:nvSpPr>
          <p:cNvPr id="22" name="Text 14"/>
          <p:cNvSpPr txBox="1"/>
          <p:nvPr/>
        </p:nvSpPr>
        <p:spPr>
          <a:xfrm>
            <a:off x="9113368" y="2935224"/>
            <a:ext cx="365760" cy="182880"/>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a:t>
            </a:r>
            <a:endParaRPr lang="en-US" sz="900" dirty="0"/>
          </a:p>
        </p:txBody>
      </p:sp>
      <p:sp>
        <p:nvSpPr>
          <p:cNvPr id="23" name="Text 16"/>
          <p:cNvSpPr txBox="1"/>
          <p:nvPr/>
        </p:nvSpPr>
        <p:spPr>
          <a:xfrm>
            <a:off x="7040880" y="3081528"/>
            <a:ext cx="3047695" cy="566928"/>
          </a:xfrm>
          <a:prstGeom prst="rect">
            <a:avLst/>
          </a:prstGeom>
          <a:noFill/>
          <a:ln/>
        </p:spPr>
        <p:txBody>
          <a:bodyPr wrap="square" lIns="0" tIns="0" rIns="0" bIns="0" rtlCol="0" anchor="ctr"/>
          <a:lstStyle/>
          <a:p>
            <a:pPr indent="0" marL="0">
              <a:buNone/>
            </a:pPr>
            <a:r>
              <a:rPr lang="en-US" sz="1400" b="1" dirty="0">
                <a:solidFill>
                  <a:srgbClr val="12262E"/>
                </a:solidFill>
                <a:latin typeface="Calibri" pitchFamily="34" charset="0"/>
                <a:ea typeface="Calibri" pitchFamily="34" charset="-122"/>
                <a:cs typeface="Calibri" pitchFamily="34" charset="-120"/>
              </a:rPr>
              <a:t>BUSI</a:t>
            </a:r>
            <a:pPr indent="0" marL="0">
              <a:buNone/>
            </a:pPr>
            <a:r>
              <a:rPr lang="en-US" sz="1200" dirty="0">
                <a:solidFill>
                  <a:srgbClr val="12262E"/>
                </a:solidFill>
                <a:latin typeface="Calibri" pitchFamily="34" charset="0"/>
                <a:ea typeface="Calibri" pitchFamily="34" charset="-122"/>
                <a:cs typeface="Calibri" pitchFamily="34" charset="-120"/>
              </a:rPr>
              <a:t>   far-OOD · breast ultrasound</a:t>
            </a:r>
            <a:endParaRPr lang="en-US" sz="1400" dirty="0"/>
          </a:p>
        </p:txBody>
      </p:sp>
      <p:sp>
        <p:nvSpPr>
          <p:cNvPr id="24" name="Text 17"/>
          <p:cNvSpPr txBox="1"/>
          <p:nvPr/>
        </p:nvSpPr>
        <p:spPr>
          <a:xfrm>
            <a:off x="9997135" y="3081528"/>
            <a:ext cx="1554480" cy="566928"/>
          </a:xfrm>
          <a:prstGeom prst="rect">
            <a:avLst/>
          </a:prstGeom>
          <a:noFill/>
          <a:ln/>
        </p:spPr>
        <p:txBody>
          <a:bodyPr wrap="square" lIns="0" tIns="0" rIns="0" bIns="0" rtlCol="0" anchor="ctr"/>
          <a:lstStyle/>
          <a:p>
            <a:pPr algn="r" indent="0" marL="0">
              <a:buNone/>
            </a:pPr>
            <a:r>
              <a:rPr lang="en-US" sz="1100" dirty="0">
                <a:solidFill>
                  <a:srgbClr val="5B6B72"/>
                </a:solidFill>
                <a:latin typeface="Calibri" pitchFamily="34" charset="0"/>
                <a:ea typeface="Calibri" pitchFamily="34" charset="-122"/>
                <a:cs typeface="Calibri" pitchFamily="34" charset="-120"/>
              </a:rPr>
              <a:t>647 images</a:t>
            </a:r>
            <a:endParaRPr lang="en-US" sz="1100" dirty="0"/>
          </a:p>
        </p:txBody>
      </p:sp>
      <p:sp>
        <p:nvSpPr>
          <p:cNvPr id="25" name="Text 18"/>
          <p:cNvSpPr txBox="1"/>
          <p:nvPr/>
        </p:nvSpPr>
        <p:spPr>
          <a:xfrm>
            <a:off x="9113368" y="3593592"/>
            <a:ext cx="365760" cy="182880"/>
          </a:xfrm>
          <a:prstGeom prst="rect">
            <a:avLst/>
          </a:prstGeom>
          <a:noFill/>
          <a:ln/>
        </p:spPr>
        <p:txBody>
          <a:bodyPr wrap="square" lIns="0" tIns="0" rIns="0" bIns="0" rtlCol="0" anchor="ctr"/>
          <a:lstStyle/>
          <a:p>
            <a:pPr algn="ctr" indent="0" marL="0">
              <a:buNone/>
            </a:pPr>
            <a:r>
              <a:rPr lang="en-US" sz="900" dirty="0">
                <a:solidFill>
                  <a:srgbClr val="5B6B72"/>
                </a:solidFill>
                <a:latin typeface="Calibri" pitchFamily="34" charset="0"/>
                <a:ea typeface="Calibri" pitchFamily="34" charset="-122"/>
                <a:cs typeface="Calibri" pitchFamily="34" charset="-120"/>
              </a:rPr>
              <a:t>▼</a:t>
            </a:r>
            <a:endParaRPr lang="en-US" sz="900" dirty="0"/>
          </a:p>
        </p:txBody>
      </p:sp>
      <p:sp>
        <p:nvSpPr>
          <p:cNvPr id="26" name="Text 20"/>
          <p:cNvSpPr txBox="1"/>
          <p:nvPr/>
        </p:nvSpPr>
        <p:spPr>
          <a:xfrm>
            <a:off x="7040880" y="3739896"/>
            <a:ext cx="3047695" cy="566928"/>
          </a:xfrm>
          <a:prstGeom prst="rect">
            <a:avLst/>
          </a:prstGeom>
          <a:noFill/>
          <a:ln/>
        </p:spPr>
        <p:txBody>
          <a:bodyPr wrap="square" lIns="0" tIns="0" rIns="0" bIns="0" rtlCol="0" anchor="ctr"/>
          <a:lstStyle/>
          <a:p>
            <a:pPr indent="0" marL="0">
              <a:buNone/>
            </a:pPr>
            <a:r>
              <a:rPr lang="en-US" sz="1400" b="1" dirty="0">
                <a:solidFill>
                  <a:srgbClr val="12262E"/>
                </a:solidFill>
                <a:latin typeface="Calibri" pitchFamily="34" charset="0"/>
                <a:ea typeface="Calibri" pitchFamily="34" charset="-122"/>
                <a:cs typeface="Calibri" pitchFamily="34" charset="-120"/>
              </a:rPr>
              <a:t>CBIS-DDSM</a:t>
            </a:r>
            <a:pPr indent="0" marL="0">
              <a:buNone/>
            </a:pPr>
            <a:r>
              <a:rPr lang="en-US" sz="1200" dirty="0">
                <a:solidFill>
                  <a:srgbClr val="12262E"/>
                </a:solidFill>
                <a:latin typeface="Calibri" pitchFamily="34" charset="0"/>
                <a:ea typeface="Calibri" pitchFamily="34" charset="-122"/>
                <a:cs typeface="Calibri" pitchFamily="34" charset="-120"/>
              </a:rPr>
              <a:t>   far-OOD · mammography</a:t>
            </a:r>
            <a:endParaRPr lang="en-US" sz="1400" dirty="0"/>
          </a:p>
        </p:txBody>
      </p:sp>
      <p:sp>
        <p:nvSpPr>
          <p:cNvPr id="27" name="Text 21"/>
          <p:cNvSpPr txBox="1"/>
          <p:nvPr/>
        </p:nvSpPr>
        <p:spPr>
          <a:xfrm>
            <a:off x="9997135" y="3739896"/>
            <a:ext cx="1554480" cy="566928"/>
          </a:xfrm>
          <a:prstGeom prst="rect">
            <a:avLst/>
          </a:prstGeom>
          <a:noFill/>
          <a:ln/>
        </p:spPr>
        <p:txBody>
          <a:bodyPr wrap="square" lIns="0" tIns="0" rIns="0" bIns="0" rtlCol="0" anchor="ctr"/>
          <a:lstStyle/>
          <a:p>
            <a:pPr algn="r" indent="0" marL="0">
              <a:buNone/>
            </a:pPr>
            <a:r>
              <a:rPr lang="en-US" sz="1100" dirty="0">
                <a:solidFill>
                  <a:srgbClr val="5B6B72"/>
                </a:solidFill>
                <a:latin typeface="Calibri" pitchFamily="34" charset="0"/>
                <a:ea typeface="Calibri" pitchFamily="34" charset="-122"/>
                <a:cs typeface="Calibri" pitchFamily="34" charset="-120"/>
              </a:rPr>
              <a:t>362 images</a:t>
            </a:r>
            <a:endParaRPr lang="en-US" sz="1100" dirty="0"/>
          </a:p>
        </p:txBody>
      </p:sp>
      <p:sp>
        <p:nvSpPr>
          <p:cNvPr id="28" name="Text 23"/>
          <p:cNvSpPr txBox="1"/>
          <p:nvPr/>
        </p:nvSpPr>
        <p:spPr>
          <a:xfrm>
            <a:off x="7040880" y="4626864"/>
            <a:ext cx="4510735" cy="641033"/>
          </a:xfrm>
          <a:prstGeom prst="rect">
            <a:avLst/>
          </a:prstGeom>
          <a:noFill/>
          <a:ln/>
        </p:spPr>
        <p:txBody>
          <a:bodyPr wrap="square" lIns="0" tIns="0" rIns="0" bIns="0" rtlCol="0" anchor="t"/>
          <a:lstStyle/>
          <a:p>
            <a:pPr algn="l" indent="0" marL="0">
              <a:buNone/>
            </a:pPr>
            <a:r>
              <a:rPr lang="en-US" sz="1250" b="1" dirty="0">
                <a:solidFill>
                  <a:srgbClr val="12262E"/>
                </a:solidFill>
                <a:latin typeface="Calibri" pitchFamily="34" charset="0"/>
                <a:ea typeface="Calibri" pitchFamily="34" charset="-122"/>
                <a:cs typeface="Calibri" pitchFamily="34" charset="-120"/>
              </a:rPr>
              <a:t>Prompt protocol. </a:t>
            </a:r>
            <a:pPr algn="l" indent="0" marL="0">
              <a:buNone/>
            </a:pPr>
            <a:r>
              <a:rPr lang="en-US" sz="1250" dirty="0">
                <a:solidFill>
                  <a:srgbClr val="12262E"/>
                </a:solidFill>
                <a:latin typeface="Calibri" pitchFamily="34" charset="0"/>
                <a:ea typeface="Calibri" pitchFamily="34" charset="-122"/>
                <a:cs typeface="Calibri" pitchFamily="34" charset="-120"/>
              </a:rPr>
              <a:t>Train with clean boxes, fixed 20 px, or random 0–100 px jitter. Evaluate at 0 / 20 / 50 / 100 / 200 px on 1024² images.</a:t>
            </a:r>
            <a:endParaRPr lang="en-US" sz="1250" dirty="0"/>
          </a:p>
        </p:txBody>
      </p:sp>
      <p:sp>
        <p:nvSpPr>
          <p:cNvPr id="29" name="Text 25"/>
          <p:cNvSpPr txBox="1"/>
          <p:nvPr/>
        </p:nvSpPr>
        <p:spPr>
          <a:xfrm>
            <a:off x="7178040" y="5478209"/>
            <a:ext cx="1889608" cy="396783"/>
          </a:xfrm>
          <a:prstGeom prst="rect">
            <a:avLst/>
          </a:prstGeom>
          <a:noFill/>
          <a:ln/>
        </p:spPr>
        <p:txBody>
          <a:bodyPr wrap="square" lIns="0" tIns="0" rIns="0" bIns="0" rtlCol="0" anchor="ctr"/>
          <a:lstStyle/>
          <a:p>
            <a:pPr indent="0" marL="0">
              <a:buNone/>
            </a:pPr>
            <a:r>
              <a:rPr lang="en-US" sz="2600" b="1" dirty="0">
                <a:solidFill>
                  <a:srgbClr val="0E7C86"/>
                </a:solidFill>
                <a:latin typeface="Calibri" pitchFamily="34" charset="0"/>
                <a:ea typeface="Calibri" pitchFamily="34" charset="-122"/>
                <a:cs typeface="Calibri" pitchFamily="34" charset="-120"/>
              </a:rPr>
              <a:t>+280%</a:t>
            </a:r>
            <a:endParaRPr lang="en-US" sz="2600" dirty="0"/>
          </a:p>
        </p:txBody>
      </p:sp>
      <p:sp>
        <p:nvSpPr>
          <p:cNvPr id="30" name="Text 26"/>
          <p:cNvSpPr txBox="1"/>
          <p:nvPr/>
        </p:nvSpPr>
        <p:spPr>
          <a:xfrm>
            <a:off x="7178040" y="5823482"/>
            <a:ext cx="1889608" cy="288569"/>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mean box area at 200 px jitter, all datasets</a:t>
            </a:r>
            <a:endParaRPr lang="en-US" sz="1100" dirty="0"/>
          </a:p>
        </p:txBody>
      </p:sp>
      <p:sp>
        <p:nvSpPr>
          <p:cNvPr id="31" name="Text 28"/>
          <p:cNvSpPr txBox="1"/>
          <p:nvPr/>
        </p:nvSpPr>
        <p:spPr>
          <a:xfrm>
            <a:off x="9524848" y="5478209"/>
            <a:ext cx="1889608" cy="396783"/>
          </a:xfrm>
          <a:prstGeom prst="rect">
            <a:avLst/>
          </a:prstGeom>
          <a:noFill/>
          <a:ln/>
        </p:spPr>
        <p:txBody>
          <a:bodyPr wrap="square" lIns="0" tIns="0" rIns="0" bIns="0" rtlCol="0" anchor="ctr"/>
          <a:lstStyle/>
          <a:p>
            <a:pPr indent="0" marL="0">
              <a:buNone/>
            </a:pPr>
            <a:r>
              <a:rPr lang="en-US" sz="2600" b="1" dirty="0">
                <a:solidFill>
                  <a:srgbClr val="C8452C"/>
                </a:solidFill>
                <a:latin typeface="Calibri" pitchFamily="34" charset="0"/>
                <a:ea typeface="Calibri" pitchFamily="34" charset="-122"/>
                <a:cs typeface="Calibri" pitchFamily="34" charset="-120"/>
              </a:rPr>
              <a:t>+1,328%</a:t>
            </a:r>
            <a:endParaRPr lang="en-US" sz="2600" dirty="0"/>
          </a:p>
        </p:txBody>
      </p:sp>
      <p:sp>
        <p:nvSpPr>
          <p:cNvPr id="32" name="Text 29"/>
          <p:cNvSpPr txBox="1"/>
          <p:nvPr/>
        </p:nvSpPr>
        <p:spPr>
          <a:xfrm>
            <a:off x="9524848" y="5823482"/>
            <a:ext cx="1889608" cy="288569"/>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on small CBIS-DDSM lesions: far-OOD is harder by construction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9"/>
          <p:cNvSpPr/>
          <p:nvPr/>
        </p:nvSpPr>
        <p:spPr>
          <a:xfrm>
            <a:off x="8046720" y="1353312"/>
            <a:ext cx="3687775" cy="1417320"/>
          </a:xfrm>
          <a:prstGeom prst="roundRect">
            <a:avLst>
              <a:gd name="adj" fmla="val 6452"/>
            </a:avLst>
          </a:prstGeom>
          <a:solidFill>
            <a:srgbClr val="FBE4DE"/>
          </a:solidFill>
          <a:ln w="12700">
            <a:solidFill>
              <a:srgbClr val="FBE4DE"/>
            </a:solidFill>
            <a:prstDash val="solid"/>
          </a:ln>
        </p:spPr>
      </p:sp>
      <p:sp>
        <p:nvSpPr>
          <p:cNvPr id="3" name="Shape 12"/>
          <p:cNvSpPr/>
          <p:nvPr/>
        </p:nvSpPr>
        <p:spPr>
          <a:xfrm>
            <a:off x="8046720" y="2907792"/>
            <a:ext cx="3687775" cy="1417320"/>
          </a:xfrm>
          <a:prstGeom prst="roundRect">
            <a:avLst>
              <a:gd name="adj" fmla="val 6452"/>
            </a:avLst>
          </a:prstGeom>
          <a:solidFill>
            <a:srgbClr val="E3F2EA"/>
          </a:solidFill>
          <a:ln w="12700">
            <a:solidFill>
              <a:srgbClr val="E3F2EA"/>
            </a:solidFill>
            <a:prstDash val="solid"/>
          </a:ln>
        </p:spPr>
      </p:sp>
      <p:sp>
        <p:nvSpPr>
          <p:cNvPr id="4" name="Shape 15"/>
          <p:cNvSpPr/>
          <p:nvPr/>
        </p:nvSpPr>
        <p:spPr>
          <a:xfrm>
            <a:off x="8046720" y="4462272"/>
            <a:ext cx="3687775" cy="1417320"/>
          </a:xfrm>
          <a:prstGeom prst="roundRect">
            <a:avLst>
              <a:gd name="adj" fmla="val 6452"/>
            </a:avLst>
          </a:prstGeom>
          <a:solidFill>
            <a:srgbClr val="DDEDEF"/>
          </a:solidFill>
          <a:ln w="12700">
            <a:solidFill>
              <a:srgbClr val="DDEDEF"/>
            </a:solidFill>
            <a:prstDash val="solid"/>
          </a:ln>
        </p:spPr>
      </p:sp>
      <p:sp>
        <p:nvSpPr>
          <p:cNvPr id="5"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6"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4 / 12</a:t>
            </a:r>
            <a:endParaRPr lang="en-US" sz="900" dirty="0"/>
          </a:p>
        </p:txBody>
      </p:sp>
      <p:sp>
        <p:nvSpPr>
          <p:cNvPr id="7"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RESULT 1</a:t>
            </a:r>
            <a:endParaRPr lang="en-US" sz="1100" dirty="0"/>
          </a:p>
        </p:txBody>
      </p:sp>
      <p:sp>
        <p:nvSpPr>
          <p:cNvPr id="8"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Adaptation helps in-domain and often hurts far-OOD</a:t>
            </a:r>
            <a:endParaRPr lang="en-US" sz="2700" dirty="0"/>
          </a:p>
        </p:txBody>
      </p:sp>
      <p:sp>
        <p:nvSpPr>
          <p:cNvPr id="9" name="Text 4"/>
          <p:cNvSpPr txBox="1"/>
          <p:nvPr/>
        </p:nvSpPr>
        <p:spPr>
          <a:xfrm>
            <a:off x="457200" y="1353312"/>
            <a:ext cx="7223760" cy="220345"/>
          </a:xfrm>
          <a:prstGeom prst="rect">
            <a:avLst/>
          </a:prstGeom>
          <a:noFill/>
          <a:ln/>
        </p:spPr>
        <p:txBody>
          <a:bodyPr wrap="square" lIns="0" tIns="0" rIns="0" bIns="0" rtlCol="0" anchor="t"/>
          <a:lstStyle/>
          <a:p>
            <a:pPr algn="l" indent="0" marL="0">
              <a:buNone/>
            </a:pPr>
            <a:r>
              <a:rPr lang="en-US" sz="1100" dirty="0">
                <a:solidFill>
                  <a:srgbClr val="5B6B72"/>
                </a:solidFill>
                <a:latin typeface="Calibri" pitchFamily="34" charset="0"/>
                <a:ea typeface="Calibri" pitchFamily="34" charset="-122"/>
                <a:cs typeface="Calibri" pitchFamily="34" charset="-120"/>
              </a:rPr>
              <a:t>Dice with clean boxes, models trained with clean boxes, mean of 3 seeds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7223760" cy="914400"/>
        </p:xfrm>
        <a:graphic>
          <a:graphicData uri="http://schemas.openxmlformats.org/drawingml/2006/table">
            <a:tbl>
              <a:tblPr/>
              <a:tblGrid>
                <a:gridCol w="1828800"/>
                <a:gridCol w="1188720"/>
                <a:gridCol w="1371600"/>
                <a:gridCol w="1371600"/>
                <a:gridCol w="1463040"/>
              </a:tblGrid>
              <a:tr h="503555">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ISIC (ID)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PH² (close-OOD)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BUSI (far-OOD)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CBIS-DDSM (far-OOD)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Zero-shot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0.907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0.905</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0.823</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0.692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Decoder-only</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0.949</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0.894</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0.828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VPT-shallow</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0.945</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0.943</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0.792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0.566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VPT-deep</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0.946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0.802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LoRA</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0.956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0.957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0.780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0.509</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Encoder-only LoRA</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0.958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0.960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0.908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0.793</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Full FT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0.961</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0.958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0.901</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0.829</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bl>
          </a:graphicData>
        </a:graphic>
      </p:graphicFrame>
      <p:sp>
        <p:nvSpPr>
          <p:cNvPr id="11" name="Text 5"/>
          <p:cNvSpPr txBox="1"/>
          <p:nvPr/>
        </p:nvSpPr>
        <p:spPr>
          <a:xfrm>
            <a:off x="457200" y="4509897"/>
            <a:ext cx="181610" cy="242951"/>
          </a:xfrm>
          <a:prstGeom prst="rect">
            <a:avLst/>
          </a:prstGeom>
          <a:noFill/>
          <a:ln/>
        </p:spPr>
        <p:txBody>
          <a:bodyPr wrap="square" lIns="0" tIns="0" rIns="0" bIns="0" rtlCol="0" anchor="ctr"/>
          <a:lstStyle/>
          <a:p>
            <a:pPr indent="0" marL="0">
              <a:buNone/>
            </a:pPr>
            <a:r>
              <a:rPr lang="en-US" sz="1300" dirty="0">
                <a:solidFill>
                  <a:srgbClr val="0E7C86"/>
                </a:solidFill>
                <a:latin typeface="Calibri" pitchFamily="34" charset="0"/>
                <a:ea typeface="Calibri" pitchFamily="34" charset="-122"/>
                <a:cs typeface="Calibri" pitchFamily="34" charset="-120"/>
              </a:rPr>
              <a:t>•</a:t>
            </a:r>
            <a:endParaRPr lang="en-US" sz="1300" dirty="0"/>
          </a:p>
        </p:txBody>
      </p:sp>
      <p:sp>
        <p:nvSpPr>
          <p:cNvPr id="12" name="Text 6"/>
          <p:cNvSpPr txBox="1"/>
          <p:nvPr/>
        </p:nvSpPr>
        <p:spPr>
          <a:xfrm>
            <a:off x="638810" y="4509897"/>
            <a:ext cx="7042150" cy="449326"/>
          </a:xfrm>
          <a:prstGeom prst="rect">
            <a:avLst/>
          </a:prstGeom>
          <a:noFill/>
          <a:ln/>
        </p:spPr>
        <p:txBody>
          <a:bodyPr wrap="square" lIns="0" tIns="0" rIns="0" bIns="0" rtlCol="0" anchor="t"/>
          <a:lstStyle/>
          <a:p>
            <a:pPr indent="0" marL="0">
              <a:buNone/>
            </a:pPr>
            <a:r>
              <a:rPr lang="en-US" sz="1300" dirty="0">
                <a:solidFill>
                  <a:srgbClr val="12262E"/>
                </a:solidFill>
                <a:latin typeface="Calibri" pitchFamily="34" charset="0"/>
                <a:ea typeface="Calibri" pitchFamily="34" charset="-122"/>
                <a:cs typeface="Calibri" pitchFamily="34" charset="-120"/>
              </a:rPr>
              <a:t>Every adapter beats zero-shot in-domain. LoRA and both VPT variants </a:t>
            </a:r>
            <a:pPr indent="0" marL="0">
              <a:buNone/>
            </a:pPr>
            <a:r>
              <a:rPr lang="en-US" sz="1300" b="1" dirty="0">
                <a:solidFill>
                  <a:srgbClr val="C8452C"/>
                </a:solidFill>
                <a:latin typeface="Calibri" pitchFamily="34" charset="0"/>
                <a:ea typeface="Calibri" pitchFamily="34" charset="-122"/>
                <a:cs typeface="Calibri" pitchFamily="34" charset="-120"/>
              </a:rPr>
              <a:t>fall below zero-shot</a:t>
            </a:r>
            <a:pPr indent="0" marL="0">
              <a:buNone/>
            </a:pPr>
            <a:r>
              <a:rPr lang="en-US" sz="1300" dirty="0">
                <a:solidFill>
                  <a:srgbClr val="12262E"/>
                </a:solidFill>
                <a:latin typeface="Calibri" pitchFamily="34" charset="0"/>
                <a:ea typeface="Calibri" pitchFamily="34" charset="-122"/>
                <a:cs typeface="Calibri" pitchFamily="34" charset="-120"/>
              </a:rPr>
              <a:t> on ultrasound and mammography.</a:t>
            </a:r>
            <a:endParaRPr lang="en-US" sz="1300" dirty="0"/>
          </a:p>
        </p:txBody>
      </p:sp>
      <p:sp>
        <p:nvSpPr>
          <p:cNvPr id="13" name="Text 7"/>
          <p:cNvSpPr txBox="1"/>
          <p:nvPr/>
        </p:nvSpPr>
        <p:spPr>
          <a:xfrm>
            <a:off x="457200" y="5050663"/>
            <a:ext cx="181610" cy="242951"/>
          </a:xfrm>
          <a:prstGeom prst="rect">
            <a:avLst/>
          </a:prstGeom>
          <a:noFill/>
          <a:ln/>
        </p:spPr>
        <p:txBody>
          <a:bodyPr wrap="square" lIns="0" tIns="0" rIns="0" bIns="0" rtlCol="0" anchor="ctr"/>
          <a:lstStyle/>
          <a:p>
            <a:pPr indent="0" marL="0">
              <a:buNone/>
            </a:pPr>
            <a:r>
              <a:rPr lang="en-US" sz="1300" dirty="0">
                <a:solidFill>
                  <a:srgbClr val="0E7C86"/>
                </a:solidFill>
                <a:latin typeface="Calibri" pitchFamily="34" charset="0"/>
                <a:ea typeface="Calibri" pitchFamily="34" charset="-122"/>
                <a:cs typeface="Calibri" pitchFamily="34" charset="-120"/>
              </a:rPr>
              <a:t>•</a:t>
            </a:r>
            <a:endParaRPr lang="en-US" sz="1300" dirty="0"/>
          </a:p>
        </p:txBody>
      </p:sp>
      <p:sp>
        <p:nvSpPr>
          <p:cNvPr id="14" name="Text 8"/>
          <p:cNvSpPr txBox="1"/>
          <p:nvPr/>
        </p:nvSpPr>
        <p:spPr>
          <a:xfrm>
            <a:off x="638810" y="5050663"/>
            <a:ext cx="7042150" cy="449326"/>
          </a:xfrm>
          <a:prstGeom prst="rect">
            <a:avLst/>
          </a:prstGeom>
          <a:noFill/>
          <a:ln/>
        </p:spPr>
        <p:txBody>
          <a:bodyPr wrap="square" lIns="0" tIns="0" rIns="0" bIns="0" rtlCol="0" anchor="t"/>
          <a:lstStyle/>
          <a:p>
            <a:pPr indent="0" marL="0">
              <a:buNone/>
            </a:pPr>
            <a:r>
              <a:rPr lang="en-US" sz="1300" b="1" dirty="0">
                <a:solidFill>
                  <a:srgbClr val="12262E"/>
                </a:solidFill>
                <a:latin typeface="Calibri" pitchFamily="34" charset="0"/>
                <a:ea typeface="Calibri" pitchFamily="34" charset="-122"/>
                <a:cs typeface="Calibri" pitchFamily="34" charset="-120"/>
              </a:rPr>
              <a:t>Full FT</a:t>
            </a:r>
            <a:pPr indent="0" marL="0">
              <a:buNone/>
            </a:pPr>
            <a:r>
              <a:rPr lang="en-US" sz="1300" dirty="0">
                <a:solidFill>
                  <a:srgbClr val="12262E"/>
                </a:solidFill>
                <a:latin typeface="Calibri" pitchFamily="34" charset="0"/>
                <a:ea typeface="Calibri" pitchFamily="34" charset="-122"/>
                <a:cs typeface="Calibri" pitchFamily="34" charset="-120"/>
              </a:rPr>
              <a:t> is the best overall trade-off. </a:t>
            </a:r>
            <a:pPr indent="0" marL="0">
              <a:buNone/>
            </a:pPr>
            <a:r>
              <a:rPr lang="en-US" sz="1300" b="1" dirty="0">
                <a:solidFill>
                  <a:srgbClr val="12262E"/>
                </a:solidFill>
                <a:latin typeface="Calibri" pitchFamily="34" charset="0"/>
                <a:ea typeface="Calibri" pitchFamily="34" charset="-122"/>
                <a:cs typeface="Calibri" pitchFamily="34" charset="-120"/>
              </a:rPr>
              <a:t>Encoder-only LoRA</a:t>
            </a:r>
            <a:pPr indent="0" marL="0">
              <a:buNone/>
            </a:pPr>
            <a:r>
              <a:rPr lang="en-US" sz="1300" dirty="0">
                <a:solidFill>
                  <a:srgbClr val="12262E"/>
                </a:solidFill>
                <a:latin typeface="Calibri" pitchFamily="34" charset="0"/>
                <a:ea typeface="Calibri" pitchFamily="34" charset="-122"/>
                <a:cs typeface="Calibri" pitchFamily="34" charset="-120"/>
              </a:rPr>
              <a:t> is the strongest parameter-efficient method: same adapter as LoRA, decoder left alone.</a:t>
            </a:r>
            <a:endParaRPr lang="en-US" sz="1300" dirty="0"/>
          </a:p>
        </p:txBody>
      </p:sp>
      <p:sp>
        <p:nvSpPr>
          <p:cNvPr id="15" name="Text 10"/>
          <p:cNvSpPr txBox="1"/>
          <p:nvPr/>
        </p:nvSpPr>
        <p:spPr>
          <a:xfrm>
            <a:off x="8183880" y="1426464"/>
            <a:ext cx="3413455" cy="779526"/>
          </a:xfrm>
          <a:prstGeom prst="rect">
            <a:avLst/>
          </a:prstGeom>
          <a:noFill/>
          <a:ln/>
        </p:spPr>
        <p:txBody>
          <a:bodyPr wrap="square" lIns="0" tIns="0" rIns="0" bIns="0" rtlCol="0" anchor="ctr"/>
          <a:lstStyle/>
          <a:p>
            <a:pPr indent="0" marL="0">
              <a:buNone/>
            </a:pPr>
            <a:r>
              <a:rPr lang="en-US" sz="3400" b="1" dirty="0">
                <a:solidFill>
                  <a:srgbClr val="C8452C"/>
                </a:solidFill>
                <a:latin typeface="Calibri" pitchFamily="34" charset="0"/>
                <a:ea typeface="Calibri" pitchFamily="34" charset="-122"/>
                <a:cs typeface="Calibri" pitchFamily="34" charset="-120"/>
              </a:rPr>
              <a:t>0.51 vs 0.69</a:t>
            </a:r>
            <a:endParaRPr lang="en-US" sz="3400" dirty="0"/>
          </a:p>
        </p:txBody>
      </p:sp>
      <p:sp>
        <p:nvSpPr>
          <p:cNvPr id="16" name="Text 11"/>
          <p:cNvSpPr txBox="1"/>
          <p:nvPr/>
        </p:nvSpPr>
        <p:spPr>
          <a:xfrm>
            <a:off x="8183880" y="2175358"/>
            <a:ext cx="3413455" cy="566928"/>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LoRA vs zero-shot Dice on mammography. The best in-domain PEFT adapter is worse than doing nothing far-OOD.</a:t>
            </a:r>
            <a:endParaRPr lang="en-US" sz="1100" dirty="0"/>
          </a:p>
        </p:txBody>
      </p:sp>
      <p:sp>
        <p:nvSpPr>
          <p:cNvPr id="17" name="Text 13"/>
          <p:cNvSpPr txBox="1"/>
          <p:nvPr/>
        </p:nvSpPr>
        <p:spPr>
          <a:xfrm>
            <a:off x="8183880" y="2980944"/>
            <a:ext cx="3413455" cy="779526"/>
          </a:xfrm>
          <a:prstGeom prst="rect">
            <a:avLst/>
          </a:prstGeom>
          <a:noFill/>
          <a:ln/>
        </p:spPr>
        <p:txBody>
          <a:bodyPr wrap="square" lIns="0" tIns="0" rIns="0" bIns="0" rtlCol="0" anchor="ctr"/>
          <a:lstStyle/>
          <a:p>
            <a:pPr indent="0" marL="0">
              <a:buNone/>
            </a:pPr>
            <a:r>
              <a:rPr lang="en-US" sz="3400" b="1" dirty="0">
                <a:solidFill>
                  <a:srgbClr val="1E8E5A"/>
                </a:solidFill>
                <a:latin typeface="Calibri" pitchFamily="34" charset="0"/>
                <a:ea typeface="Calibri" pitchFamily="34" charset="-122"/>
                <a:cs typeface="Calibri" pitchFamily="34" charset="-120"/>
              </a:rPr>
              <a:t>+0.28 Dice</a:t>
            </a:r>
            <a:endParaRPr lang="en-US" sz="3400" dirty="0"/>
          </a:p>
        </p:txBody>
      </p:sp>
      <p:sp>
        <p:nvSpPr>
          <p:cNvPr id="18" name="Text 14"/>
          <p:cNvSpPr txBox="1"/>
          <p:nvPr/>
        </p:nvSpPr>
        <p:spPr>
          <a:xfrm>
            <a:off x="8183880" y="3729838"/>
            <a:ext cx="3413455" cy="566928"/>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Encoder-only LoRA over standard LoRA on CBIS-DDSM. The only change: the decoder is frozen.</a:t>
            </a:r>
            <a:endParaRPr lang="en-US" sz="1100" dirty="0"/>
          </a:p>
        </p:txBody>
      </p:sp>
      <p:sp>
        <p:nvSpPr>
          <p:cNvPr id="19" name="Text 16"/>
          <p:cNvSpPr txBox="1"/>
          <p:nvPr/>
        </p:nvSpPr>
        <p:spPr>
          <a:xfrm>
            <a:off x="8183880" y="4535424"/>
            <a:ext cx="3413455" cy="779526"/>
          </a:xfrm>
          <a:prstGeom prst="rect">
            <a:avLst/>
          </a:prstGeom>
          <a:noFill/>
          <a:ln/>
        </p:spPr>
        <p:txBody>
          <a:bodyPr wrap="square" lIns="0" tIns="0" rIns="0" bIns="0" rtlCol="0" anchor="ctr"/>
          <a:lstStyle/>
          <a:p>
            <a:pPr indent="0" marL="0">
              <a:buNone/>
            </a:pPr>
            <a:r>
              <a:rPr lang="en-US" sz="3400" b="1" dirty="0">
                <a:solidFill>
                  <a:srgbClr val="0E7C86"/>
                </a:solidFill>
                <a:latin typeface="Calibri" pitchFamily="34" charset="0"/>
                <a:ea typeface="Calibri" pitchFamily="34" charset="-122"/>
                <a:cs typeface="Calibri" pitchFamily="34" charset="-120"/>
              </a:rPr>
              <a:t>4.1M ≈ 93.7M</a:t>
            </a:r>
            <a:endParaRPr lang="en-US" sz="3400" dirty="0"/>
          </a:p>
        </p:txBody>
      </p:sp>
      <p:sp>
        <p:nvSpPr>
          <p:cNvPr id="20" name="Text 17"/>
          <p:cNvSpPr txBox="1"/>
          <p:nvPr/>
        </p:nvSpPr>
        <p:spPr>
          <a:xfrm>
            <a:off x="8183880" y="5284318"/>
            <a:ext cx="3413455" cy="566928"/>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Encoder-only LoRA and decoder-only FT stay within 0.04 Dice of Full FT on both far-OOD sets.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5"/>
          <p:cNvSpPr/>
          <p:nvPr/>
        </p:nvSpPr>
        <p:spPr>
          <a:xfrm>
            <a:off x="457200" y="4502912"/>
            <a:ext cx="5577840" cy="1051560"/>
          </a:xfrm>
          <a:prstGeom prst="roundRect">
            <a:avLst>
              <a:gd name="adj" fmla="val 8696"/>
            </a:avLst>
          </a:prstGeom>
          <a:solidFill>
            <a:srgbClr val="FBE4DE"/>
          </a:solidFill>
          <a:ln w="12700">
            <a:solidFill>
              <a:srgbClr val="FBE4DE"/>
            </a:solidFill>
            <a:prstDash val="solid"/>
          </a:ln>
        </p:spPr>
      </p:sp>
      <p:sp>
        <p:nvSpPr>
          <p:cNvPr id="3"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4"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5 / 12</a:t>
            </a:r>
            <a:endParaRPr lang="en-US" sz="900" dirty="0"/>
          </a:p>
        </p:txBody>
      </p:sp>
      <p:sp>
        <p:nvSpPr>
          <p:cNvPr id="5"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RESULT 1, CONTINUED</a:t>
            </a:r>
            <a:endParaRPr lang="en-US" sz="1100" dirty="0"/>
          </a:p>
        </p:txBody>
      </p:sp>
      <p:sp>
        <p:nvSpPr>
          <p:cNvPr id="6"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Boundary error shows collapse, not a small overlap loss</a:t>
            </a:r>
            <a:endParaRPr lang="en-US" sz="2700" dirty="0"/>
          </a:p>
        </p:txBody>
      </p:sp>
      <p:sp>
        <p:nvSpPr>
          <p:cNvPr id="7" name="Text 4"/>
          <p:cNvSpPr txBox="1"/>
          <p:nvPr/>
        </p:nvSpPr>
        <p:spPr>
          <a:xfrm>
            <a:off x="457200" y="1353312"/>
            <a:ext cx="5577840" cy="394970"/>
          </a:xfrm>
          <a:prstGeom prst="rect">
            <a:avLst/>
          </a:prstGeom>
          <a:noFill/>
          <a:ln/>
        </p:spPr>
        <p:txBody>
          <a:bodyPr wrap="square" lIns="0" tIns="0" rIns="0" bIns="0" rtlCol="0" anchor="t"/>
          <a:lstStyle/>
          <a:p>
            <a:pPr algn="l" indent="0" marL="0">
              <a:buNone/>
            </a:pPr>
            <a:r>
              <a:rPr lang="en-US" sz="1100" dirty="0">
                <a:solidFill>
                  <a:srgbClr val="5B6B72"/>
                </a:solidFill>
                <a:latin typeface="Calibri" pitchFamily="34" charset="0"/>
                <a:ea typeface="Calibri" pitchFamily="34" charset="-122"/>
                <a:cs typeface="Calibri" pitchFamily="34" charset="-120"/>
              </a:rPr>
              <a:t>HD95 with clean boxes, median [IQR] in pixels at 1024². In-domain and close-OOD medians are 0–7 px for every method.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810512"/>
          <a:ext cx="5577840" cy="914400"/>
        </p:xfrm>
        <a:graphic>
          <a:graphicData uri="http://schemas.openxmlformats.org/drawingml/2006/table">
            <a:tbl>
              <a:tblPr/>
              <a:tblGrid>
                <a:gridCol w="1920240"/>
                <a:gridCol w="1737360"/>
                <a:gridCol w="1920240"/>
              </a:tblGrid>
              <a:tr h="31369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BUSI (far-OOD)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CBIS-DDSM (far-OOD)</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Zero-shot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14 [9, 25]</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12 [7, 17]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Decoder-only</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 [2, 17]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 [3, 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VPT-shallow</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21 [5, 387]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14 [8, 37]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VPT-deep</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25 [6, 394]</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18 [10, 359]</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LoRA</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26 [6, 402]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47 [13, 438]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Encoder-only LoRA</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3 [1, 11]</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5 [3, 7]</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Full FT</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4 [1, 13]</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4 [3, 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bl>
          </a:graphicData>
        </a:graphic>
      </p:graphicFrame>
      <p:sp>
        <p:nvSpPr>
          <p:cNvPr id="9" name="Text 6"/>
          <p:cNvSpPr txBox="1"/>
          <p:nvPr/>
        </p:nvSpPr>
        <p:spPr>
          <a:xfrm>
            <a:off x="594360" y="4576064"/>
            <a:ext cx="5303520" cy="578358"/>
          </a:xfrm>
          <a:prstGeom prst="rect">
            <a:avLst/>
          </a:prstGeom>
          <a:noFill/>
          <a:ln/>
        </p:spPr>
        <p:txBody>
          <a:bodyPr wrap="square" lIns="0" tIns="0" rIns="0" bIns="0" rtlCol="0" anchor="ctr"/>
          <a:lstStyle/>
          <a:p>
            <a:pPr indent="0" marL="0">
              <a:buNone/>
            </a:pPr>
            <a:r>
              <a:rPr lang="en-US" sz="3400" b="1" dirty="0">
                <a:solidFill>
                  <a:srgbClr val="C8452C"/>
                </a:solidFill>
                <a:latin typeface="Calibri" pitchFamily="34" charset="0"/>
                <a:ea typeface="Calibri" pitchFamily="34" charset="-122"/>
                <a:cs typeface="Calibri" pitchFamily="34" charset="-120"/>
              </a:rPr>
              <a:t>~400 px</a:t>
            </a:r>
            <a:endParaRPr lang="en-US" sz="3400" dirty="0"/>
          </a:p>
        </p:txBody>
      </p:sp>
      <p:sp>
        <p:nvSpPr>
          <p:cNvPr id="10" name="Text 7"/>
          <p:cNvSpPr txBox="1"/>
          <p:nvPr/>
        </p:nvSpPr>
        <p:spPr>
          <a:xfrm>
            <a:off x="594360" y="5112817"/>
            <a:ext cx="5303520" cy="420624"/>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Upper quartile of LoRA and VPT boundary error on far-OOD data: a quarter of cases segment the wrong structure entirely. Dice gap to Full FT ~0.12; boundary gap more than tenfold.</a:t>
            </a:r>
            <a:endParaRPr lang="en-US" sz="1100" dirty="0"/>
          </a:p>
        </p:txBody>
      </p:sp>
      <p:pic>
        <p:nvPicPr>
          <p:cNvPr id="11" name="Image 0" descr="/Users/imsounic/medsam-vpt/figures/camera_ready/hd95_robustness.png">    </p:cNvPr>
          <p:cNvPicPr>
            <a:picLocks noChangeAspect="1"/>
          </p:cNvPicPr>
          <p:nvPr/>
        </p:nvPicPr>
        <p:blipFill>
          <a:blip r:embed="rId1"/>
          <a:stretch>
            <a:fillRect/>
          </a:stretch>
        </p:blipFill>
        <p:spPr>
          <a:xfrm>
            <a:off x="6400800" y="1353312"/>
            <a:ext cx="5333695" cy="4266956"/>
          </a:xfrm>
          <a:prstGeom prst="rect">
            <a:avLst/>
          </a:prstGeom>
        </p:spPr>
      </p:pic>
      <p:sp>
        <p:nvSpPr>
          <p:cNvPr id="12" name="Text 8"/>
          <p:cNvSpPr txBox="1"/>
          <p:nvPr/>
        </p:nvSpPr>
        <p:spPr>
          <a:xfrm>
            <a:off x="6400800" y="5665988"/>
            <a:ext cx="5333695" cy="363220"/>
          </a:xfrm>
          <a:prstGeom prst="rect">
            <a:avLst/>
          </a:prstGeom>
          <a:noFill/>
          <a:ln/>
        </p:spPr>
        <p:txBody>
          <a:bodyPr wrap="square" lIns="0" tIns="0" rIns="0" bIns="0" rtlCol="0" anchor="t"/>
          <a:lstStyle/>
          <a:p>
            <a:pPr algn="l" indent="0" marL="0">
              <a:buNone/>
            </a:pPr>
            <a:r>
              <a:rPr lang="en-US" sz="1000" dirty="0">
                <a:solidFill>
                  <a:srgbClr val="5B6B72"/>
                </a:solidFill>
                <a:latin typeface="Calibri" pitchFamily="34" charset="0"/>
                <a:ea typeface="Calibri" pitchFamily="34" charset="-122"/>
                <a:cs typeface="Calibri" pitchFamily="34" charset="-120"/>
              </a:rPr>
              <a:t>HD95 (log scale) vs evaluation jitter, rand100-trained models. LoRA and VPT sit an order of magnitude above the rest on both far-OOD sets at every jitter level.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3"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6 / 12</a:t>
            </a:r>
            <a:endParaRPr lang="en-US" sz="900" dirty="0"/>
          </a:p>
        </p:txBody>
      </p:sp>
      <p:sp>
        <p:nvSpPr>
          <p:cNvPr id="4"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RESULT 2</a:t>
            </a:r>
            <a:endParaRPr lang="en-US" sz="1100" dirty="0"/>
          </a:p>
        </p:txBody>
      </p:sp>
      <p:sp>
        <p:nvSpPr>
          <p:cNvPr id="5"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Clean-box training makes adapters brittle to prompt noise</a:t>
            </a:r>
            <a:endParaRPr lang="en-US" sz="2700" dirty="0"/>
          </a:p>
        </p:txBody>
      </p:sp>
      <p:pic>
        <p:nvPicPr>
          <p:cNvPr id="6" name="Image 0" descr="/Users/imsounic/medsam-vpt/miccai_safer_talk/pdf_images/p06_0_2460x1793.png">    </p:cNvPr>
          <p:cNvPicPr>
            <a:picLocks noChangeAspect="1"/>
          </p:cNvPicPr>
          <p:nvPr/>
        </p:nvPicPr>
        <p:blipFill>
          <a:blip r:embed="rId1"/>
          <a:stretch>
            <a:fillRect/>
          </a:stretch>
        </p:blipFill>
        <p:spPr>
          <a:xfrm>
            <a:off x="457200" y="1353312"/>
            <a:ext cx="6309360" cy="4598651"/>
          </a:xfrm>
          <a:prstGeom prst="rect">
            <a:avLst/>
          </a:prstGeom>
        </p:spPr>
      </p:pic>
      <p:sp>
        <p:nvSpPr>
          <p:cNvPr id="7" name="Text 4"/>
          <p:cNvSpPr txBox="1"/>
          <p:nvPr/>
        </p:nvSpPr>
        <p:spPr>
          <a:xfrm>
            <a:off x="457200" y="5997683"/>
            <a:ext cx="6309360" cy="204470"/>
          </a:xfrm>
          <a:prstGeom prst="rect">
            <a:avLst/>
          </a:prstGeom>
          <a:noFill/>
          <a:ln/>
        </p:spPr>
        <p:txBody>
          <a:bodyPr wrap="square" lIns="0" tIns="0" rIns="0" bIns="0" rtlCol="0" anchor="t"/>
          <a:lstStyle/>
          <a:p>
            <a:pPr algn="l" indent="0" marL="0">
              <a:buNone/>
            </a:pPr>
            <a:r>
              <a:rPr lang="en-US" sz="1000" dirty="0">
                <a:solidFill>
                  <a:srgbClr val="5B6B72"/>
                </a:solidFill>
                <a:latin typeface="Calibri" pitchFamily="34" charset="0"/>
                <a:ea typeface="Calibri" pitchFamily="34" charset="-122"/>
                <a:cs typeface="Calibri" pitchFamily="34" charset="-120"/>
              </a:rPr>
              <a:t>Dice vs evaluation jitter, averaged over the three training-jitter regimes (paper Fig. 2).</a:t>
            </a:r>
            <a:endParaRPr lang="en-US" sz="1000" dirty="0"/>
          </a:p>
        </p:txBody>
      </p:sp>
      <p:sp>
        <p:nvSpPr>
          <p:cNvPr id="8" name="Text 5"/>
          <p:cNvSpPr txBox="1"/>
          <p:nvPr/>
        </p:nvSpPr>
        <p:spPr>
          <a:xfrm>
            <a:off x="7132320" y="1353312"/>
            <a:ext cx="4602175" cy="220345"/>
          </a:xfrm>
          <a:prstGeom prst="rect">
            <a:avLst/>
          </a:prstGeom>
          <a:noFill/>
          <a:ln/>
        </p:spPr>
        <p:txBody>
          <a:bodyPr wrap="square" lIns="0" tIns="0" rIns="0" bIns="0" rtlCol="0" anchor="t"/>
          <a:lstStyle/>
          <a:p>
            <a:pPr algn="l" indent="0" marL="0">
              <a:buNone/>
            </a:pPr>
            <a:r>
              <a:rPr lang="en-US" sz="1100" dirty="0">
                <a:solidFill>
                  <a:srgbClr val="5B6B72"/>
                </a:solidFill>
                <a:latin typeface="Calibri" pitchFamily="34" charset="0"/>
                <a:ea typeface="Calibri" pitchFamily="34" charset="-122"/>
                <a:cs typeface="Calibri" pitchFamily="34" charset="-120"/>
              </a:rPr>
              <a:t>Dice under evaluation jitter, models trained with clean boxes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0" y="1627632"/>
          <a:ext cx="4602175" cy="914400"/>
        </p:xfrm>
        <a:graphic>
          <a:graphicData uri="http://schemas.openxmlformats.org/drawingml/2006/table">
            <a:tbl>
              <a:tblPr/>
              <a:tblGrid>
                <a:gridCol w="1234440"/>
                <a:gridCol w="673547"/>
                <a:gridCol w="673547"/>
                <a:gridCol w="673547"/>
                <a:gridCol w="673547"/>
                <a:gridCol w="673547"/>
              </a:tblGrid>
              <a:tr h="426085">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Zero-shot</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Dec-only</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LoRA</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Enc-LoRA</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 FT</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265430">
                <a:tc>
                  <a:txBody>
                    <a:bodyPr/>
                    <a:lstStyle/>
                    <a:p>
                      <a:pPr algn="l" indent="0" marL="0">
                        <a:buNone/>
                      </a:pPr>
                      <a:r>
                        <a:rPr lang="en-US" sz="1100" dirty="0">
                          <a:solidFill>
                            <a:srgbClr val="12262E"/>
                          </a:solidFill>
                          <a:latin typeface="Calibri" pitchFamily="34" charset="0"/>
                          <a:ea typeface="Calibri" pitchFamily="34" charset="-122"/>
                          <a:cs typeface="Calibri" pitchFamily="34" charset="-120"/>
                        </a:rPr>
                        <a:t>CBIS, 0 px</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0.692</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0.828</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0.509</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0.793</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0.829</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265430">
                <a:tc>
                  <a:txBody>
                    <a:bodyPr/>
                    <a:lstStyle/>
                    <a:p>
                      <a:pPr algn="l" indent="0" marL="0">
                        <a:buNone/>
                      </a:pPr>
                      <a:r>
                        <a:rPr lang="en-US" sz="1100" dirty="0">
                          <a:solidFill>
                            <a:srgbClr val="12262E"/>
                          </a:solidFill>
                          <a:latin typeface="Calibri" pitchFamily="34" charset="0"/>
                          <a:ea typeface="Calibri" pitchFamily="34" charset="-122"/>
                          <a:cs typeface="Calibri" pitchFamily="34" charset="-120"/>
                        </a:rPr>
                        <a:t>CBIS, 20 px</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0.748</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0.706</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0.478</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0.753</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0.744</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265430">
                <a:tc>
                  <a:txBody>
                    <a:bodyPr/>
                    <a:lstStyle/>
                    <a:p>
                      <a:pPr algn="l" indent="0" marL="0">
                        <a:buNone/>
                      </a:pPr>
                      <a:r>
                        <a:rPr lang="en-US" sz="1100" dirty="0">
                          <a:solidFill>
                            <a:srgbClr val="12262E"/>
                          </a:solidFill>
                          <a:latin typeface="Calibri" pitchFamily="34" charset="0"/>
                          <a:ea typeface="Calibri" pitchFamily="34" charset="-122"/>
                          <a:cs typeface="Calibri" pitchFamily="34" charset="-120"/>
                        </a:rPr>
                        <a:t>CBIS, 100 px</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0.391</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0.303</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0.270</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0.367</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0.336</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265430">
                <a:tc>
                  <a:txBody>
                    <a:bodyPr/>
                    <a:lstStyle/>
                    <a:p>
                      <a:pPr algn="l" indent="0" marL="0">
                        <a:buNone/>
                      </a:pPr>
                      <a:r>
                        <a:rPr lang="en-US" sz="1100" dirty="0">
                          <a:solidFill>
                            <a:srgbClr val="12262E"/>
                          </a:solidFill>
                          <a:latin typeface="Calibri" pitchFamily="34" charset="0"/>
                          <a:ea typeface="Calibri" pitchFamily="34" charset="-122"/>
                          <a:cs typeface="Calibri" pitchFamily="34" charset="-120"/>
                        </a:rPr>
                        <a:t>BUSI, 100 px</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0.758</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0.659</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0.619</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0.701</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0.672</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265430">
                <a:tc>
                  <a:txBody>
                    <a:bodyPr/>
                    <a:lstStyle/>
                    <a:p>
                      <a:pPr algn="l" indent="0" marL="0">
                        <a:buNone/>
                      </a:pPr>
                      <a:r>
                        <a:rPr lang="en-US" sz="1100" dirty="0">
                          <a:solidFill>
                            <a:srgbClr val="12262E"/>
                          </a:solidFill>
                          <a:latin typeface="Calibri" pitchFamily="34" charset="0"/>
                          <a:ea typeface="Calibri" pitchFamily="34" charset="-122"/>
                          <a:cs typeface="Calibri" pitchFamily="34" charset="-120"/>
                        </a:rPr>
                        <a:t>ISIC, 200 px</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0.767</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0.710</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0.787</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b="1" dirty="0">
                          <a:solidFill>
                            <a:srgbClr val="C8452C"/>
                          </a:solidFill>
                          <a:latin typeface="Calibri" pitchFamily="34" charset="0"/>
                          <a:ea typeface="Calibri" pitchFamily="34" charset="-122"/>
                          <a:cs typeface="Calibri" pitchFamily="34" charset="-120"/>
                        </a:rPr>
                        <a:t>0.645</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100" dirty="0">
                          <a:solidFill>
                            <a:srgbClr val="12262E"/>
                          </a:solidFill>
                          <a:latin typeface="Calibri" pitchFamily="34" charset="0"/>
                          <a:ea typeface="Calibri" pitchFamily="34" charset="-122"/>
                          <a:cs typeface="Calibri" pitchFamily="34" charset="-120"/>
                        </a:rPr>
                        <a:t>0.712</a:t>
                      </a:r>
                      <a:endParaRPr lang="en-US" sz="11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bl>
          </a:graphicData>
        </a:graphic>
      </p:graphicFrame>
      <p:sp>
        <p:nvSpPr>
          <p:cNvPr id="10" name="Text 6"/>
          <p:cNvSpPr txBox="1"/>
          <p:nvPr/>
        </p:nvSpPr>
        <p:spPr>
          <a:xfrm>
            <a:off x="7132320" y="3609467"/>
            <a:ext cx="181610" cy="242951"/>
          </a:xfrm>
          <a:prstGeom prst="rect">
            <a:avLst/>
          </a:prstGeom>
          <a:noFill/>
          <a:ln/>
        </p:spPr>
        <p:txBody>
          <a:bodyPr wrap="square" lIns="0" tIns="0" rIns="0" bIns="0" rtlCol="0" anchor="ctr"/>
          <a:lstStyle/>
          <a:p>
            <a:pPr indent="0" marL="0">
              <a:buNone/>
            </a:pPr>
            <a:r>
              <a:rPr lang="en-US" sz="1300" dirty="0">
                <a:solidFill>
                  <a:srgbClr val="0E7C86"/>
                </a:solidFill>
                <a:latin typeface="Calibri" pitchFamily="34" charset="0"/>
                <a:ea typeface="Calibri" pitchFamily="34" charset="-122"/>
                <a:cs typeface="Calibri" pitchFamily="34" charset="-120"/>
              </a:rPr>
              <a:t>•</a:t>
            </a:r>
            <a:endParaRPr lang="en-US" sz="1300" dirty="0"/>
          </a:p>
        </p:txBody>
      </p:sp>
      <p:sp>
        <p:nvSpPr>
          <p:cNvPr id="11" name="Text 7"/>
          <p:cNvSpPr txBox="1"/>
          <p:nvPr/>
        </p:nvSpPr>
        <p:spPr>
          <a:xfrm>
            <a:off x="7313930" y="3609467"/>
            <a:ext cx="4420565" cy="655701"/>
          </a:xfrm>
          <a:prstGeom prst="rect">
            <a:avLst/>
          </a:prstGeom>
          <a:noFill/>
          <a:ln/>
        </p:spPr>
        <p:txBody>
          <a:bodyPr wrap="square" lIns="0" tIns="0" rIns="0" bIns="0" rtlCol="0" anchor="t"/>
          <a:lstStyle/>
          <a:p>
            <a:pPr indent="0" marL="0">
              <a:buNone/>
            </a:pPr>
            <a:r>
              <a:rPr lang="en-US" sz="1300" dirty="0">
                <a:solidFill>
                  <a:srgbClr val="12262E"/>
                </a:solidFill>
                <a:latin typeface="Calibri" pitchFamily="34" charset="0"/>
                <a:ea typeface="Calibri" pitchFamily="34" charset="-122"/>
                <a:cs typeface="Calibri" pitchFamily="34" charset="-120"/>
              </a:rPr>
              <a:t>Zero-shot </a:t>
            </a:r>
            <a:pPr indent="0" marL="0">
              <a:buNone/>
            </a:pPr>
            <a:r>
              <a:rPr lang="en-US" sz="1300" b="1" dirty="0">
                <a:solidFill>
                  <a:srgbClr val="1E8E5A"/>
                </a:solidFill>
                <a:latin typeface="Calibri" pitchFamily="34" charset="0"/>
                <a:ea typeface="Calibri" pitchFamily="34" charset="-122"/>
                <a:cs typeface="Calibri" pitchFamily="34" charset="-120"/>
              </a:rPr>
              <a:t>improves</a:t>
            </a:r>
            <a:pPr indent="0" marL="0">
              <a:buNone/>
            </a:pPr>
            <a:r>
              <a:rPr lang="en-US" sz="1300" dirty="0">
                <a:solidFill>
                  <a:srgbClr val="12262E"/>
                </a:solidFill>
                <a:latin typeface="Calibri" pitchFamily="34" charset="0"/>
                <a:ea typeface="Calibri" pitchFamily="34" charset="-122"/>
                <a:cs typeface="Calibri" pitchFamily="34" charset="-120"/>
              </a:rPr>
              <a:t> with 20 px of slack and is the best model far-OOD once boxes are 100 px off. MedSAM was pretrained on imperfect boxes.</a:t>
            </a:r>
            <a:endParaRPr lang="en-US" sz="1300" dirty="0"/>
          </a:p>
        </p:txBody>
      </p:sp>
      <p:sp>
        <p:nvSpPr>
          <p:cNvPr id="12" name="Text 8"/>
          <p:cNvSpPr txBox="1"/>
          <p:nvPr/>
        </p:nvSpPr>
        <p:spPr>
          <a:xfrm>
            <a:off x="7132320" y="4356608"/>
            <a:ext cx="181610" cy="242951"/>
          </a:xfrm>
          <a:prstGeom prst="rect">
            <a:avLst/>
          </a:prstGeom>
          <a:noFill/>
          <a:ln/>
        </p:spPr>
        <p:txBody>
          <a:bodyPr wrap="square" lIns="0" tIns="0" rIns="0" bIns="0" rtlCol="0" anchor="ctr"/>
          <a:lstStyle/>
          <a:p>
            <a:pPr indent="0" marL="0">
              <a:buNone/>
            </a:pPr>
            <a:r>
              <a:rPr lang="en-US" sz="1300" dirty="0">
                <a:solidFill>
                  <a:srgbClr val="0E7C86"/>
                </a:solidFill>
                <a:latin typeface="Calibri" pitchFamily="34" charset="0"/>
                <a:ea typeface="Calibri" pitchFamily="34" charset="-122"/>
                <a:cs typeface="Calibri" pitchFamily="34" charset="-120"/>
              </a:rPr>
              <a:t>•</a:t>
            </a:r>
            <a:endParaRPr lang="en-US" sz="1300" dirty="0"/>
          </a:p>
        </p:txBody>
      </p:sp>
      <p:sp>
        <p:nvSpPr>
          <p:cNvPr id="13" name="Text 9"/>
          <p:cNvSpPr txBox="1"/>
          <p:nvPr/>
        </p:nvSpPr>
        <p:spPr>
          <a:xfrm>
            <a:off x="7313930" y="4356608"/>
            <a:ext cx="4420565" cy="655701"/>
          </a:xfrm>
          <a:prstGeom prst="rect">
            <a:avLst/>
          </a:prstGeom>
          <a:noFill/>
          <a:ln/>
        </p:spPr>
        <p:txBody>
          <a:bodyPr wrap="square" lIns="0" tIns="0" rIns="0" bIns="0" rtlCol="0" anchor="t"/>
          <a:lstStyle/>
          <a:p>
            <a:pPr indent="0" marL="0">
              <a:buNone/>
            </a:pPr>
            <a:r>
              <a:rPr lang="en-US" sz="1300" dirty="0">
                <a:solidFill>
                  <a:srgbClr val="12262E"/>
                </a:solidFill>
                <a:latin typeface="Calibri" pitchFamily="34" charset="0"/>
                <a:ea typeface="Calibri" pitchFamily="34" charset="-122"/>
                <a:cs typeface="Calibri" pitchFamily="34" charset="-120"/>
              </a:rPr>
              <a:t>Clean-box adapters </a:t>
            </a:r>
            <a:pPr indent="0" marL="0">
              <a:buNone/>
            </a:pPr>
            <a:r>
              <a:rPr lang="en-US" sz="1300" b="1" dirty="0">
                <a:solidFill>
                  <a:srgbClr val="C8452C"/>
                </a:solidFill>
                <a:latin typeface="Calibri" pitchFamily="34" charset="0"/>
                <a:ea typeface="Calibri" pitchFamily="34" charset="-122"/>
                <a:cs typeface="Calibri" pitchFamily="34" charset="-120"/>
              </a:rPr>
              <a:t>unlearn that tolerance</a:t>
            </a:r>
            <a:pPr indent="0" marL="0">
              <a:buNone/>
            </a:pPr>
            <a:r>
              <a:rPr lang="en-US" sz="1300" dirty="0">
                <a:solidFill>
                  <a:srgbClr val="12262E"/>
                </a:solidFill>
                <a:latin typeface="Calibri" pitchFamily="34" charset="0"/>
                <a:ea typeface="Calibri" pitchFamily="34" charset="-122"/>
                <a:cs typeface="Calibri" pitchFamily="34" charset="-120"/>
              </a:rPr>
              <a:t>. Even encoder-only LoRA becomes the most jitter-sensitive model in-domain at 200 px.</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11"/>
          <p:cNvSpPr/>
          <p:nvPr/>
        </p:nvSpPr>
        <p:spPr>
          <a:xfrm>
            <a:off x="7498080" y="1353312"/>
            <a:ext cx="2026768" cy="1143000"/>
          </a:xfrm>
          <a:prstGeom prst="roundRect">
            <a:avLst>
              <a:gd name="adj" fmla="val 8000"/>
            </a:avLst>
          </a:prstGeom>
          <a:solidFill>
            <a:srgbClr val="E3F2EA"/>
          </a:solidFill>
          <a:ln w="12700">
            <a:solidFill>
              <a:srgbClr val="E3F2EA"/>
            </a:solidFill>
            <a:prstDash val="solid"/>
          </a:ln>
        </p:spPr>
      </p:sp>
      <p:sp>
        <p:nvSpPr>
          <p:cNvPr id="3" name="Shape 14"/>
          <p:cNvSpPr/>
          <p:nvPr/>
        </p:nvSpPr>
        <p:spPr>
          <a:xfrm>
            <a:off x="9707728" y="1353312"/>
            <a:ext cx="2026768" cy="1143000"/>
          </a:xfrm>
          <a:prstGeom prst="roundRect">
            <a:avLst>
              <a:gd name="adj" fmla="val 8000"/>
            </a:avLst>
          </a:prstGeom>
          <a:solidFill>
            <a:srgbClr val="FBE4DE"/>
          </a:solidFill>
          <a:ln w="12700">
            <a:solidFill>
              <a:srgbClr val="FBE4DE"/>
            </a:solidFill>
            <a:prstDash val="solid"/>
          </a:ln>
        </p:spPr>
      </p:sp>
      <p:sp>
        <p:nvSpPr>
          <p:cNvPr id="4"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5"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7 / 12</a:t>
            </a:r>
            <a:endParaRPr lang="en-US" sz="900" dirty="0"/>
          </a:p>
        </p:txBody>
      </p:sp>
      <p:sp>
        <p:nvSpPr>
          <p:cNvPr id="6"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RESULT 3</a:t>
            </a:r>
            <a:endParaRPr lang="en-US" sz="1100" dirty="0"/>
          </a:p>
        </p:txBody>
      </p:sp>
      <p:sp>
        <p:nvSpPr>
          <p:cNvPr id="7"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Random 0–100 px jitter training gives the most reliable adapters</a:t>
            </a:r>
            <a:endParaRPr lang="en-US" sz="2700" dirty="0"/>
          </a:p>
        </p:txBody>
      </p:sp>
      <p:sp>
        <p:nvSpPr>
          <p:cNvPr id="8" name="Text 4"/>
          <p:cNvSpPr txBox="1"/>
          <p:nvPr/>
        </p:nvSpPr>
        <p:spPr>
          <a:xfrm>
            <a:off x="457200" y="1353312"/>
            <a:ext cx="6675120" cy="394970"/>
          </a:xfrm>
          <a:prstGeom prst="rect">
            <a:avLst/>
          </a:prstGeom>
          <a:noFill/>
          <a:ln/>
        </p:spPr>
        <p:txBody>
          <a:bodyPr wrap="square" lIns="0" tIns="0" rIns="0" bIns="0" rtlCol="0" anchor="t"/>
          <a:lstStyle/>
          <a:p>
            <a:pPr algn="l" indent="0" marL="0">
              <a:buNone/>
            </a:pPr>
            <a:r>
              <a:rPr lang="en-US" sz="1100" dirty="0">
                <a:solidFill>
                  <a:srgbClr val="5B6B72"/>
                </a:solidFill>
                <a:latin typeface="Calibri" pitchFamily="34" charset="0"/>
                <a:ea typeface="Calibri" pitchFamily="34" charset="-122"/>
                <a:cs typeface="Calibri" pitchFamily="34" charset="-120"/>
              </a:rPr>
              <a:t>Mean Dice gain over zero-shot: trained with clean boxes → trained with random 0–100 px jitter (paper Table 1)</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6675120" cy="914400"/>
        </p:xfrm>
        <a:graphic>
          <a:graphicData uri="http://schemas.openxmlformats.org/drawingml/2006/table">
            <a:tbl>
              <a:tblPr/>
              <a:tblGrid>
                <a:gridCol w="1737360"/>
                <a:gridCol w="1645920"/>
                <a:gridCol w="1645920"/>
                <a:gridCol w="1645920"/>
              </a:tblGrid>
              <a:tr h="2895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In-domain</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Far-OOD</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Full FT</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b="1" dirty="0">
                          <a:solidFill>
                            <a:srgbClr val="1E8E5A"/>
                          </a:solidFill>
                          <a:latin typeface="Calibri" pitchFamily="34" charset="0"/>
                          <a:ea typeface="Calibri" pitchFamily="34" charset="-122"/>
                          <a:cs typeface="Calibri" pitchFamily="34" charset="-120"/>
                        </a:rPr>
                        <a:t>−0.006 → +0.034</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−0.014 → −0.029</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b="1" dirty="0">
                          <a:solidFill>
                            <a:srgbClr val="1E8E5A"/>
                          </a:solidFill>
                          <a:latin typeface="Calibri" pitchFamily="34" charset="0"/>
                          <a:ea typeface="Calibri" pitchFamily="34" charset="-122"/>
                          <a:cs typeface="Calibri" pitchFamily="34" charset="-120"/>
                        </a:rPr>
                        <a:t>−0.009 → +0.013</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Encoder-only LoRA</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E5A"/>
                          </a:solidFill>
                          <a:latin typeface="Calibri" pitchFamily="34" charset="0"/>
                          <a:ea typeface="Calibri" pitchFamily="34" charset="-122"/>
                          <a:cs typeface="Calibri" pitchFamily="34" charset="-120"/>
                        </a:rPr>
                        <a:t>−0.027 → +0.053</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−0.024 → −0.054</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E5A"/>
                          </a:solidFill>
                          <a:latin typeface="Calibri" pitchFamily="34" charset="0"/>
                          <a:ea typeface="Calibri" pitchFamily="34" charset="-122"/>
                          <a:cs typeface="Calibri" pitchFamily="34" charset="-120"/>
                        </a:rPr>
                        <a:t>−0.023 → +0.007</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LoRA</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+0.012 → +0.035</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b="1" dirty="0">
                          <a:solidFill>
                            <a:srgbClr val="C8452C"/>
                          </a:solidFill>
                          <a:latin typeface="Calibri" pitchFamily="34" charset="0"/>
                          <a:ea typeface="Calibri" pitchFamily="34" charset="-122"/>
                          <a:cs typeface="Calibri" pitchFamily="34" charset="-120"/>
                        </a:rPr>
                        <a:t>−0.142 → −0.228</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−0.038 → −0.051</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Decoder-only</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−0.016 → +0.014</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8452C"/>
                          </a:solidFill>
                          <a:latin typeface="Calibri" pitchFamily="34" charset="0"/>
                          <a:ea typeface="Calibri" pitchFamily="34" charset="-122"/>
                          <a:cs typeface="Calibri" pitchFamily="34" charset="-120"/>
                        </a:rPr>
                        <a:t>−0.036 → −0.088</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−0.023 → −0.022</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VPT-shallow</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−0.008 → +0.009</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b="1" dirty="0">
                          <a:solidFill>
                            <a:srgbClr val="C8452C"/>
                          </a:solidFill>
                          <a:latin typeface="Calibri" pitchFamily="34" charset="0"/>
                          <a:ea typeface="Calibri" pitchFamily="34" charset="-122"/>
                          <a:cs typeface="Calibri" pitchFamily="34" charset="-120"/>
                        </a:rPr>
                        <a:t>−0.127 → −0.230</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−0.048 → −0.071</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289560">
                <a:tc>
                  <a:txBody>
                    <a:bodyPr/>
                    <a:lstStyle/>
                    <a:p>
                      <a:pPr algn="l" indent="0" marL="0">
                        <a:buNone/>
                      </a:pPr>
                      <a:r>
                        <a:rPr lang="en-US" sz="1200" dirty="0">
                          <a:solidFill>
                            <a:srgbClr val="12262E"/>
                          </a:solidFill>
                          <a:latin typeface="Calibri" pitchFamily="34" charset="0"/>
                          <a:ea typeface="Calibri" pitchFamily="34" charset="-122"/>
                          <a:cs typeface="Calibri" pitchFamily="34" charset="-120"/>
                        </a:rPr>
                        <a:t>VPT-deep</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−0.010 → +0.013</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8452C"/>
                          </a:solidFill>
                          <a:latin typeface="Calibri" pitchFamily="34" charset="0"/>
                          <a:ea typeface="Calibri" pitchFamily="34" charset="-122"/>
                          <a:cs typeface="Calibri" pitchFamily="34" charset="-120"/>
                        </a:rPr>
                        <a:t>−0.126 → −0.198</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2E"/>
                          </a:solidFill>
                          <a:latin typeface="Calibri" pitchFamily="34" charset="0"/>
                          <a:ea typeface="Calibri" pitchFamily="34" charset="-122"/>
                          <a:cs typeface="Calibri" pitchFamily="34" charset="-120"/>
                        </a:rPr>
                        <a:t>−0.049 → −0.058</a:t>
                      </a:r>
                      <a:endParaRPr lang="en-US" sz="12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457200" y="3837432"/>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1" name="Text 6"/>
          <p:cNvSpPr txBox="1"/>
          <p:nvPr/>
        </p:nvSpPr>
        <p:spPr>
          <a:xfrm>
            <a:off x="631825" y="3837432"/>
            <a:ext cx="6500495" cy="433451"/>
          </a:xfrm>
          <a:prstGeom prst="rect">
            <a:avLst/>
          </a:prstGeom>
          <a:noFill/>
          <a:ln/>
        </p:spPr>
        <p:txBody>
          <a:bodyPr wrap="square" lIns="0" tIns="0" rIns="0" bIns="0" rtlCol="0" anchor="t"/>
          <a:lstStyle/>
          <a:p>
            <a:pPr indent="0" marL="0">
              <a:buNone/>
            </a:pPr>
            <a:r>
              <a:rPr lang="en-US" sz="1250" dirty="0">
                <a:solidFill>
                  <a:srgbClr val="12262E"/>
                </a:solidFill>
                <a:latin typeface="Calibri" pitchFamily="34" charset="0"/>
                <a:ea typeface="Calibri" pitchFamily="34" charset="-122"/>
                <a:cs typeface="Calibri" pitchFamily="34" charset="-120"/>
              </a:rPr>
              <a:t>Jitter training restores in-domain and close-OOD robustness for every adapter. Fixed 20 px training overfits one noise level.</a:t>
            </a:r>
            <a:endParaRPr lang="en-US" sz="1250" dirty="0"/>
          </a:p>
        </p:txBody>
      </p:sp>
      <p:sp>
        <p:nvSpPr>
          <p:cNvPr id="12" name="Text 7"/>
          <p:cNvSpPr txBox="1"/>
          <p:nvPr/>
        </p:nvSpPr>
        <p:spPr>
          <a:xfrm>
            <a:off x="457200" y="4325747"/>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3" name="Text 8"/>
          <p:cNvSpPr txBox="1"/>
          <p:nvPr/>
        </p:nvSpPr>
        <p:spPr>
          <a:xfrm>
            <a:off x="631825" y="4325747"/>
            <a:ext cx="6500495" cy="433451"/>
          </a:xfrm>
          <a:prstGeom prst="rect">
            <a:avLst/>
          </a:prstGeom>
          <a:noFill/>
          <a:ln/>
        </p:spPr>
        <p:txBody>
          <a:bodyPr wrap="square" lIns="0" tIns="0" rIns="0" bIns="0" rtlCol="0" anchor="t"/>
          <a:lstStyle/>
          <a:p>
            <a:pPr indent="0" marL="0">
              <a:buNone/>
            </a:pPr>
            <a:r>
              <a:rPr lang="en-US" sz="1250" dirty="0">
                <a:solidFill>
                  <a:srgbClr val="12262E"/>
                </a:solidFill>
                <a:latin typeface="Calibri" pitchFamily="34" charset="0"/>
                <a:ea typeface="Calibri" pitchFamily="34" charset="-122"/>
                <a:cs typeface="Calibri" pitchFamily="34" charset="-120"/>
              </a:rPr>
              <a:t>It costs far-OOD Dice: </a:t>
            </a:r>
            <a:pPr indent="0" marL="0">
              <a:buNone/>
            </a:pPr>
            <a:r>
              <a:rPr lang="en-US" sz="1250" b="1" dirty="0">
                <a:solidFill>
                  <a:srgbClr val="1E8E5A"/>
                </a:solidFill>
                <a:latin typeface="Calibri" pitchFamily="34" charset="0"/>
                <a:ea typeface="Calibri" pitchFamily="34" charset="-122"/>
                <a:cs typeface="Calibri" pitchFamily="34" charset="-120"/>
              </a:rPr>
              <a:t>small</a:t>
            </a:r>
            <a:pPr indent="0" marL="0">
              <a:buNone/>
            </a:pPr>
            <a:r>
              <a:rPr lang="en-US" sz="1250" dirty="0">
                <a:solidFill>
                  <a:srgbClr val="12262E"/>
                </a:solidFill>
                <a:latin typeface="Calibri" pitchFamily="34" charset="0"/>
                <a:ea typeface="Calibri" pitchFamily="34" charset="-122"/>
                <a:cs typeface="Calibri" pitchFamily="34" charset="-120"/>
              </a:rPr>
              <a:t> for Full FT and encoder-only LoRA, </a:t>
            </a:r>
            <a:pPr indent="0" marL="0">
              <a:buNone/>
            </a:pPr>
            <a:r>
              <a:rPr lang="en-US" sz="1250" b="1" dirty="0">
                <a:solidFill>
                  <a:srgbClr val="C8452C"/>
                </a:solidFill>
                <a:latin typeface="Calibri" pitchFamily="34" charset="0"/>
                <a:ea typeface="Calibri" pitchFamily="34" charset="-122"/>
                <a:cs typeface="Calibri" pitchFamily="34" charset="-120"/>
              </a:rPr>
              <a:t>large</a:t>
            </a:r>
            <a:pPr indent="0" marL="0">
              <a:buNone/>
            </a:pPr>
            <a:r>
              <a:rPr lang="en-US" sz="1250" dirty="0">
                <a:solidFill>
                  <a:srgbClr val="12262E"/>
                </a:solidFill>
                <a:latin typeface="Calibri" pitchFamily="34" charset="0"/>
                <a:ea typeface="Calibri" pitchFamily="34" charset="-122"/>
                <a:cs typeface="Calibri" pitchFamily="34" charset="-120"/>
              </a:rPr>
              <a:t> for LoRA, VPT and decoder-only.</a:t>
            </a:r>
            <a:endParaRPr lang="en-US" sz="1250" dirty="0"/>
          </a:p>
        </p:txBody>
      </p:sp>
      <p:sp>
        <p:nvSpPr>
          <p:cNvPr id="14" name="Text 9"/>
          <p:cNvSpPr txBox="1"/>
          <p:nvPr/>
        </p:nvSpPr>
        <p:spPr>
          <a:xfrm>
            <a:off x="457200" y="4814062"/>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5" name="Text 10"/>
          <p:cNvSpPr txBox="1"/>
          <p:nvPr/>
        </p:nvSpPr>
        <p:spPr>
          <a:xfrm>
            <a:off x="631825" y="4814062"/>
            <a:ext cx="6500495" cy="235014"/>
          </a:xfrm>
          <a:prstGeom prst="rect">
            <a:avLst/>
          </a:prstGeom>
          <a:noFill/>
          <a:ln/>
        </p:spPr>
        <p:txBody>
          <a:bodyPr wrap="square" lIns="0" tIns="0" rIns="0" bIns="0" rtlCol="0" anchor="t"/>
          <a:lstStyle/>
          <a:p>
            <a:pPr indent="0" marL="0">
              <a:buNone/>
            </a:pPr>
            <a:r>
              <a:rPr lang="en-US" sz="1250" dirty="0">
                <a:solidFill>
                  <a:srgbClr val="12262E"/>
                </a:solidFill>
                <a:latin typeface="Calibri" pitchFamily="34" charset="0"/>
                <a:ea typeface="Calibri" pitchFamily="34" charset="-122"/>
                <a:cs typeface="Calibri" pitchFamily="34" charset="-120"/>
              </a:rPr>
              <a:t>Only </a:t>
            </a:r>
            <a:pPr indent="0" marL="0">
              <a:buNone/>
            </a:pPr>
            <a:r>
              <a:rPr lang="en-US" sz="1250" b="1" dirty="0">
                <a:solidFill>
                  <a:srgbClr val="12262E"/>
                </a:solidFill>
                <a:latin typeface="Calibri" pitchFamily="34" charset="0"/>
                <a:ea typeface="Calibri" pitchFamily="34" charset="-122"/>
                <a:cs typeface="Calibri" pitchFamily="34" charset="-120"/>
              </a:rPr>
              <a:t>Full FT and encoder-only LoRA</a:t>
            </a:r>
            <a:pPr indent="0" marL="0">
              <a:buNone/>
            </a:pPr>
            <a:r>
              <a:rPr lang="en-US" sz="1250" dirty="0">
                <a:solidFill>
                  <a:srgbClr val="12262E"/>
                </a:solidFill>
                <a:latin typeface="Calibri" pitchFamily="34" charset="0"/>
                <a:ea typeface="Calibri" pitchFamily="34" charset="-122"/>
                <a:cs typeface="Calibri" pitchFamily="34" charset="-120"/>
              </a:rPr>
              <a:t> end up above zero-shot overall.</a:t>
            </a:r>
            <a:endParaRPr lang="en-US" sz="1250" dirty="0"/>
          </a:p>
        </p:txBody>
      </p:sp>
      <p:sp>
        <p:nvSpPr>
          <p:cNvPr id="16" name="Text 12"/>
          <p:cNvSpPr txBox="1"/>
          <p:nvPr/>
        </p:nvSpPr>
        <p:spPr>
          <a:xfrm>
            <a:off x="7635240" y="1426464"/>
            <a:ext cx="1752448" cy="628650"/>
          </a:xfrm>
          <a:prstGeom prst="rect">
            <a:avLst/>
          </a:prstGeom>
          <a:noFill/>
          <a:ln/>
        </p:spPr>
        <p:txBody>
          <a:bodyPr wrap="square" lIns="0" tIns="0" rIns="0" bIns="0" rtlCol="0" anchor="ctr"/>
          <a:lstStyle/>
          <a:p>
            <a:pPr indent="0" marL="0">
              <a:buNone/>
            </a:pPr>
            <a:r>
              <a:rPr lang="en-US" sz="2200" b="1" dirty="0">
                <a:solidFill>
                  <a:srgbClr val="1E8E5A"/>
                </a:solidFill>
                <a:latin typeface="Calibri" pitchFamily="34" charset="0"/>
                <a:ea typeface="Calibri" pitchFamily="34" charset="-122"/>
                <a:cs typeface="Calibri" pitchFamily="34" charset="-120"/>
              </a:rPr>
              <a:t>0.71 → 0.84</a:t>
            </a:r>
            <a:endParaRPr lang="en-US" sz="2200" dirty="0"/>
          </a:p>
        </p:txBody>
      </p:sp>
      <p:sp>
        <p:nvSpPr>
          <p:cNvPr id="17" name="Text 13"/>
          <p:cNvSpPr txBox="1"/>
          <p:nvPr/>
        </p:nvSpPr>
        <p:spPr>
          <a:xfrm>
            <a:off x="7635240" y="2016252"/>
            <a:ext cx="1752448" cy="457200"/>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Full FT, ISIC at 200 px jitter, clean → rand100</a:t>
            </a:r>
            <a:endParaRPr lang="en-US" sz="1100" dirty="0"/>
          </a:p>
        </p:txBody>
      </p:sp>
      <p:sp>
        <p:nvSpPr>
          <p:cNvPr id="18" name="Text 15"/>
          <p:cNvSpPr txBox="1"/>
          <p:nvPr/>
        </p:nvSpPr>
        <p:spPr>
          <a:xfrm>
            <a:off x="9844888" y="1426464"/>
            <a:ext cx="1752448" cy="628650"/>
          </a:xfrm>
          <a:prstGeom prst="rect">
            <a:avLst/>
          </a:prstGeom>
          <a:noFill/>
          <a:ln/>
        </p:spPr>
        <p:txBody>
          <a:bodyPr wrap="square" lIns="0" tIns="0" rIns="0" bIns="0" rtlCol="0" anchor="ctr"/>
          <a:lstStyle/>
          <a:p>
            <a:pPr indent="0" marL="0">
              <a:buNone/>
            </a:pPr>
            <a:r>
              <a:rPr lang="en-US" sz="2200" b="1" dirty="0">
                <a:solidFill>
                  <a:srgbClr val="C8452C"/>
                </a:solidFill>
                <a:latin typeface="Calibri" pitchFamily="34" charset="0"/>
                <a:ea typeface="Calibri" pitchFamily="34" charset="-122"/>
                <a:cs typeface="Calibri" pitchFamily="34" charset="-120"/>
              </a:rPr>
              <a:t>0.51 → 0.21</a:t>
            </a:r>
            <a:endParaRPr lang="en-US" sz="2200" dirty="0"/>
          </a:p>
        </p:txBody>
      </p:sp>
      <p:sp>
        <p:nvSpPr>
          <p:cNvPr id="19" name="Text 16"/>
          <p:cNvSpPr txBox="1"/>
          <p:nvPr/>
        </p:nvSpPr>
        <p:spPr>
          <a:xfrm>
            <a:off x="9844888" y="2016252"/>
            <a:ext cx="1752448" cy="457200"/>
          </a:xfrm>
          <a:prstGeom prst="rect">
            <a:avLst/>
          </a:prstGeom>
          <a:noFill/>
          <a:ln/>
        </p:spPr>
        <p:txBody>
          <a:bodyPr wrap="square" lIns="0" tIns="0" rIns="0" bIns="0" rtlCol="0" anchor="t"/>
          <a:lstStyle/>
          <a:p>
            <a:pPr indent="0" marL="0">
              <a:buNone/>
            </a:pPr>
            <a:r>
              <a:rPr lang="en-US" sz="1100" dirty="0">
                <a:solidFill>
                  <a:srgbClr val="12262E"/>
                </a:solidFill>
                <a:latin typeface="Calibri" pitchFamily="34" charset="0"/>
                <a:ea typeface="Calibri" pitchFamily="34" charset="-122"/>
                <a:cs typeface="Calibri" pitchFamily="34" charset="-120"/>
              </a:rPr>
              <a:t>LoRA, CBIS-DDSM clean boxes, clean → rand100</a:t>
            </a:r>
            <a:endParaRPr lang="en-US" sz="1100" dirty="0"/>
          </a:p>
        </p:txBody>
      </p:sp>
      <p:pic>
        <p:nvPicPr>
          <p:cNvPr id="20" name="Image 0" descr="/Users/imsounic/medsam-vpt/figures/paper_visuals/degradation_curves.png">    </p:cNvPr>
          <p:cNvPicPr>
            <a:picLocks noChangeAspect="1"/>
          </p:cNvPicPr>
          <p:nvPr/>
        </p:nvPicPr>
        <p:blipFill>
          <a:blip r:embed="rId1"/>
          <a:stretch>
            <a:fillRect/>
          </a:stretch>
        </p:blipFill>
        <p:spPr>
          <a:xfrm>
            <a:off x="7498080" y="2679192"/>
            <a:ext cx="4236415" cy="2993923"/>
          </a:xfrm>
          <a:prstGeom prst="rect">
            <a:avLst/>
          </a:prstGeom>
        </p:spPr>
      </p:pic>
      <p:sp>
        <p:nvSpPr>
          <p:cNvPr id="21" name="Text 17"/>
          <p:cNvSpPr txBox="1"/>
          <p:nvPr/>
        </p:nvSpPr>
        <p:spPr>
          <a:xfrm>
            <a:off x="7498080" y="5718835"/>
            <a:ext cx="4236415" cy="363220"/>
          </a:xfrm>
          <a:prstGeom prst="rect">
            <a:avLst/>
          </a:prstGeom>
          <a:noFill/>
          <a:ln/>
        </p:spPr>
        <p:txBody>
          <a:bodyPr wrap="square" lIns="0" tIns="0" rIns="0" bIns="0" rtlCol="0" anchor="t"/>
          <a:lstStyle/>
          <a:p>
            <a:pPr algn="l" indent="0" marL="0">
              <a:buNone/>
            </a:pPr>
            <a:r>
              <a:rPr lang="en-US" sz="1000" dirty="0">
                <a:solidFill>
                  <a:srgbClr val="5B6B72"/>
                </a:solidFill>
                <a:latin typeface="Calibri" pitchFamily="34" charset="0"/>
                <a:ea typeface="Calibri" pitchFamily="34" charset="-122"/>
                <a:cs typeface="Calibri" pitchFamily="34" charset="-120"/>
              </a:rPr>
              <a:t>Solid: clean-trained · dashed: fixed 20 px · dotted: random 0–100 px. Dotted curves are flattest in-domain and lowest on CBIS-DDSM.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12"/>
          <p:cNvSpPr/>
          <p:nvPr/>
        </p:nvSpPr>
        <p:spPr>
          <a:xfrm>
            <a:off x="7498080" y="5074920"/>
            <a:ext cx="4236415" cy="1051560"/>
          </a:xfrm>
          <a:prstGeom prst="roundRect">
            <a:avLst>
              <a:gd name="adj" fmla="val 8696"/>
            </a:avLst>
          </a:prstGeom>
          <a:solidFill>
            <a:srgbClr val="DDEDEF"/>
          </a:solidFill>
          <a:ln w="12700">
            <a:solidFill>
              <a:srgbClr val="DDEDEF"/>
            </a:solidFill>
            <a:prstDash val="solid"/>
          </a:ln>
        </p:spPr>
      </p:sp>
      <p:sp>
        <p:nvSpPr>
          <p:cNvPr id="3"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4"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8 / 12</a:t>
            </a:r>
            <a:endParaRPr lang="en-US" sz="900" dirty="0"/>
          </a:p>
        </p:txBody>
      </p:sp>
      <p:sp>
        <p:nvSpPr>
          <p:cNvPr id="5"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MECHANISM</a:t>
            </a:r>
            <a:endParaRPr lang="en-US" sz="1100" dirty="0"/>
          </a:p>
        </p:txBody>
      </p:sp>
      <p:sp>
        <p:nvSpPr>
          <p:cNvPr id="6"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Far-OOD loss tracks decoder drift, not encoder drift</a:t>
            </a:r>
            <a:endParaRPr lang="en-US" sz="2700" dirty="0"/>
          </a:p>
        </p:txBody>
      </p:sp>
      <p:sp>
        <p:nvSpPr>
          <p:cNvPr id="7" name="Text 4"/>
          <p:cNvSpPr txBox="1"/>
          <p:nvPr/>
        </p:nvSpPr>
        <p:spPr>
          <a:xfrm>
            <a:off x="457200" y="1353312"/>
            <a:ext cx="6675120" cy="394970"/>
          </a:xfrm>
          <a:prstGeom prst="rect">
            <a:avLst/>
          </a:prstGeom>
          <a:noFill/>
          <a:ln/>
        </p:spPr>
        <p:txBody>
          <a:bodyPr wrap="square" lIns="0" tIns="0" rIns="0" bIns="0" rtlCol="0" anchor="t"/>
          <a:lstStyle/>
          <a:p>
            <a:pPr algn="l" indent="0" marL="0">
              <a:buNone/>
            </a:pPr>
            <a:r>
              <a:rPr lang="en-US" sz="1100" dirty="0">
                <a:solidFill>
                  <a:srgbClr val="5B6B72"/>
                </a:solidFill>
                <a:latin typeface="Calibri" pitchFamily="34" charset="0"/>
                <a:ea typeface="Calibri" pitchFamily="34" charset="-122"/>
                <a:cs typeface="Calibri" pitchFamily="34" charset="-120"/>
              </a:rPr>
              <a:t>Spearman ρ between linear CKA (adapted vs zero-shot MedSAM) and Dice gain over zero-shot. n = 3,000 pooled observations; FDR-corrected * q &lt; 0.05, *** q &lt; 0.001</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10512"/>
          <a:ext cx="6675120" cy="914400"/>
        </p:xfrm>
        <a:graphic>
          <a:graphicData uri="http://schemas.openxmlformats.org/drawingml/2006/table">
            <a:tbl>
              <a:tblPr/>
              <a:tblGrid>
                <a:gridCol w="2011680"/>
                <a:gridCol w="1371600"/>
                <a:gridCol w="1554480"/>
                <a:gridCol w="1737360"/>
              </a:tblGrid>
              <a:tr h="503555">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CKA feature</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 (ISIC)</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Close-OOD (PH²)</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Far-OOD (BUSI / CBIS)</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0E7C86"/>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IoU token layer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−0.02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0.76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Output layer</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0.76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Decoder layers</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−0.08</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−0.02</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0.73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Upscaled embedding</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0.29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E5A"/>
                          </a:solidFill>
                          <a:latin typeface="Calibri" pitchFamily="34" charset="0"/>
                          <a:ea typeface="Calibri" pitchFamily="34" charset="-122"/>
                          <a:cs typeface="Calibri" pitchFamily="34" charset="-120"/>
                        </a:rPr>
                        <a:t>0.71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313690">
                <a:tc>
                  <a:txBody>
                    <a:bodyPr/>
                    <a:lstStyle/>
                    <a:p>
                      <a:pPr algn="l" indent="0" marL="0">
                        <a:buNone/>
                      </a:pPr>
                      <a:r>
                        <a:rPr lang="en-US" sz="1300" dirty="0">
                          <a:solidFill>
                            <a:srgbClr val="12262E"/>
                          </a:solidFill>
                          <a:latin typeface="Calibri" pitchFamily="34" charset="0"/>
                          <a:ea typeface="Calibri" pitchFamily="34" charset="-122"/>
                          <a:cs typeface="Calibri" pitchFamily="34" charset="-120"/>
                        </a:rPr>
                        <a:t>Encoder layers</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−0.28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dirty="0">
                          <a:solidFill>
                            <a:srgbClr val="12262E"/>
                          </a:solidFill>
                          <a:latin typeface="Calibri" pitchFamily="34" charset="0"/>
                          <a:ea typeface="Calibri" pitchFamily="34" charset="-122"/>
                          <a:cs typeface="Calibri" pitchFamily="34" charset="-120"/>
                        </a:rPr>
                        <a:t>−0.28 *</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C8452C"/>
                          </a:solidFill>
                          <a:latin typeface="Calibri" pitchFamily="34" charset="0"/>
                          <a:ea typeface="Calibri" pitchFamily="34" charset="-122"/>
                          <a:cs typeface="Calibri" pitchFamily="34" charset="-120"/>
                        </a:rPr>
                        <a:t>0.09</a:t>
                      </a:r>
                      <a:endParaRPr lang="en-US" sz="1300" dirty="0">
                        <a:latin typeface="Calibri" charset="0"/>
                        <a:ea typeface="Calibri" charset="0"/>
                        <a:cs typeface="Calibri" charset="0"/>
                      </a:endParaRPr>
                    </a:p>
                  </a:txBody>
                  <a:tcPr marL="50800" marR="50800" marT="12700" marB="12700"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EEF3F5"/>
                    </a:solidFill>
                  </a:tcPr>
                </a:tc>
              </a:tr>
            </a:tbl>
          </a:graphicData>
        </a:graphic>
      </p:graphicFrame>
      <p:sp>
        <p:nvSpPr>
          <p:cNvPr id="9" name="Text 5"/>
          <p:cNvSpPr txBox="1"/>
          <p:nvPr/>
        </p:nvSpPr>
        <p:spPr>
          <a:xfrm>
            <a:off x="457200" y="4065397"/>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0" name="Text 6"/>
          <p:cNvSpPr txBox="1"/>
          <p:nvPr/>
        </p:nvSpPr>
        <p:spPr>
          <a:xfrm>
            <a:off x="631825" y="4065397"/>
            <a:ext cx="6500495" cy="433451"/>
          </a:xfrm>
          <a:prstGeom prst="rect">
            <a:avLst/>
          </a:prstGeom>
          <a:noFill/>
          <a:ln/>
        </p:spPr>
        <p:txBody>
          <a:bodyPr wrap="square" lIns="0" tIns="0" rIns="0" bIns="0" rtlCol="0" anchor="t"/>
          <a:lstStyle/>
          <a:p>
            <a:pPr indent="0" marL="0">
              <a:buNone/>
            </a:pPr>
            <a:r>
              <a:rPr lang="en-US" sz="1250" b="1" dirty="0">
                <a:solidFill>
                  <a:srgbClr val="12262E"/>
                </a:solidFill>
                <a:latin typeface="Calibri" pitchFamily="34" charset="0"/>
                <a:ea typeface="Calibri" pitchFamily="34" charset="-122"/>
                <a:cs typeface="Calibri" pitchFamily="34" charset="-120"/>
              </a:rPr>
              <a:t>Decoder-side similarity predicts far-OOD gain; encoder similarity does not</a:t>
            </a:r>
            <a:pPr indent="0" marL="0">
              <a:buNone/>
            </a:pPr>
            <a:r>
              <a:rPr lang="en-US" sz="1250" dirty="0">
                <a:solidFill>
                  <a:srgbClr val="12262E"/>
                </a:solidFill>
                <a:latin typeface="Calibri" pitchFamily="34" charset="0"/>
                <a:ea typeface="Calibri" pitchFamily="34" charset="-122"/>
                <a:cs typeface="Calibri" pitchFamily="34" charset="-120"/>
              </a:rPr>
              <a:t>, and is weakly negative in-domain.</a:t>
            </a:r>
            <a:endParaRPr lang="en-US" sz="1250" dirty="0"/>
          </a:p>
        </p:txBody>
      </p:sp>
      <p:sp>
        <p:nvSpPr>
          <p:cNvPr id="11" name="Text 7"/>
          <p:cNvSpPr txBox="1"/>
          <p:nvPr/>
        </p:nvSpPr>
        <p:spPr>
          <a:xfrm>
            <a:off x="457200" y="4553712"/>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2" name="Text 8"/>
          <p:cNvSpPr txBox="1"/>
          <p:nvPr/>
        </p:nvSpPr>
        <p:spPr>
          <a:xfrm>
            <a:off x="631825" y="4553712"/>
            <a:ext cx="6500495" cy="433451"/>
          </a:xfrm>
          <a:prstGeom prst="rect">
            <a:avLst/>
          </a:prstGeom>
          <a:noFill/>
          <a:ln/>
        </p:spPr>
        <p:txBody>
          <a:bodyPr wrap="square" lIns="0" tIns="0" rIns="0" bIns="0" rtlCol="0" anchor="t"/>
          <a:lstStyle/>
          <a:p>
            <a:pPr indent="0" marL="0">
              <a:buNone/>
            </a:pPr>
            <a:r>
              <a:rPr lang="en-US" sz="1250" dirty="0">
                <a:solidFill>
                  <a:srgbClr val="12262E"/>
                </a:solidFill>
                <a:latin typeface="Calibri" pitchFamily="34" charset="0"/>
                <a:ea typeface="Calibri" pitchFamily="34" charset="-122"/>
                <a:cs typeface="Calibri" pitchFamily="34" charset="-120"/>
              </a:rPr>
              <a:t>Decoder CKA on CBIS-DDSM follows the Dice ranking exactly: Full FT 0.95 · decoder-only 0.94 · encoder-only LoRA 0.91 · VPT-shallow 0.83 · VPT-deep 0.80 · LoRA 0.76.</a:t>
            </a:r>
            <a:endParaRPr lang="en-US" sz="1250" dirty="0"/>
          </a:p>
        </p:txBody>
      </p:sp>
      <p:sp>
        <p:nvSpPr>
          <p:cNvPr id="13" name="Text 9"/>
          <p:cNvSpPr txBox="1"/>
          <p:nvPr/>
        </p:nvSpPr>
        <p:spPr>
          <a:xfrm>
            <a:off x="457200" y="5042027"/>
            <a:ext cx="174625" cy="235014"/>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a:t>
            </a:r>
            <a:endParaRPr lang="en-US" sz="1250" dirty="0"/>
          </a:p>
        </p:txBody>
      </p:sp>
      <p:sp>
        <p:nvSpPr>
          <p:cNvPr id="14" name="Text 10"/>
          <p:cNvSpPr txBox="1"/>
          <p:nvPr/>
        </p:nvSpPr>
        <p:spPr>
          <a:xfrm>
            <a:off x="631825" y="5042027"/>
            <a:ext cx="6500495" cy="433451"/>
          </a:xfrm>
          <a:prstGeom prst="rect">
            <a:avLst/>
          </a:prstGeom>
          <a:noFill/>
          <a:ln/>
        </p:spPr>
        <p:txBody>
          <a:bodyPr wrap="square" lIns="0" tIns="0" rIns="0" bIns="0" rtlCol="0" anchor="t"/>
          <a:lstStyle/>
          <a:p>
            <a:pPr indent="0" marL="0">
              <a:buNone/>
            </a:pPr>
            <a:r>
              <a:rPr lang="en-US" sz="1250" b="1" dirty="0">
                <a:solidFill>
                  <a:srgbClr val="12262E"/>
                </a:solidFill>
                <a:latin typeface="Calibri" pitchFamily="34" charset="0"/>
                <a:ea typeface="Calibri" pitchFamily="34" charset="-122"/>
                <a:cs typeface="Calibri" pitchFamily="34" charset="-120"/>
              </a:rPr>
              <a:t>Encoder-only LoRA works</a:t>
            </a:r>
            <a:pPr indent="0" marL="0">
              <a:buNone/>
            </a:pPr>
            <a:r>
              <a:rPr lang="en-US" sz="1250" dirty="0">
                <a:solidFill>
                  <a:srgbClr val="12262E"/>
                </a:solidFill>
                <a:latin typeface="Calibri" pitchFamily="34" charset="0"/>
                <a:ea typeface="Calibri" pitchFamily="34" charset="-122"/>
                <a:cs typeface="Calibri" pitchFamily="34" charset="-120"/>
              </a:rPr>
              <a:t> because it adapts the encoder to the visual shift while preserving the decoder pathway.</a:t>
            </a:r>
            <a:endParaRPr lang="en-US" sz="1250" dirty="0"/>
          </a:p>
        </p:txBody>
      </p:sp>
      <p:pic>
        <p:nvPicPr>
          <p:cNvPr id="15" name="Image 0" descr="/Users/imsounic/medsam-vpt/miccai_safer_talk/pdf_images/fig5_farood_crop.png">    </p:cNvPr>
          <p:cNvPicPr>
            <a:picLocks noChangeAspect="1"/>
          </p:cNvPicPr>
          <p:nvPr/>
        </p:nvPicPr>
        <p:blipFill>
          <a:blip r:embed="rId1"/>
          <a:stretch>
            <a:fillRect/>
          </a:stretch>
        </p:blipFill>
        <p:spPr>
          <a:xfrm>
            <a:off x="7498080" y="1353312"/>
            <a:ext cx="4236415" cy="2845627"/>
          </a:xfrm>
          <a:prstGeom prst="rect">
            <a:avLst/>
          </a:prstGeom>
        </p:spPr>
      </p:pic>
      <p:sp>
        <p:nvSpPr>
          <p:cNvPr id="16" name="Text 11"/>
          <p:cNvSpPr txBox="1"/>
          <p:nvPr/>
        </p:nvSpPr>
        <p:spPr>
          <a:xfrm>
            <a:off x="7498080" y="4244659"/>
            <a:ext cx="4236415" cy="521970"/>
          </a:xfrm>
          <a:prstGeom prst="rect">
            <a:avLst/>
          </a:prstGeom>
          <a:noFill/>
          <a:ln/>
        </p:spPr>
        <p:txBody>
          <a:bodyPr wrap="square" lIns="0" tIns="0" rIns="0" bIns="0" rtlCol="0" anchor="t"/>
          <a:lstStyle/>
          <a:p>
            <a:pPr algn="l" indent="0" marL="0">
              <a:buNone/>
            </a:pPr>
            <a:r>
              <a:rPr lang="en-US" sz="1000" dirty="0">
                <a:solidFill>
                  <a:srgbClr val="5B6B72"/>
                </a:solidFill>
                <a:latin typeface="Calibri" pitchFamily="34" charset="0"/>
                <a:ea typeface="Calibri" pitchFamily="34" charset="-122"/>
                <a:cs typeface="Calibri" pitchFamily="34" charset="-120"/>
              </a:rPr>
              <a:t>Far-OOD Dice gain vs overall CKA, one point per method × training jitter × evaluation jitter (Spearman 0.64). Bottom-left cluster: LoRA and VPT. Top-right, next to zero-shot: Full FT and encoder-only LoRA.</a:t>
            </a:r>
            <a:endParaRPr lang="en-US" sz="1000" dirty="0"/>
          </a:p>
        </p:txBody>
      </p:sp>
      <p:sp>
        <p:nvSpPr>
          <p:cNvPr id="17" name="Text 13"/>
          <p:cNvSpPr txBox="1"/>
          <p:nvPr/>
        </p:nvSpPr>
        <p:spPr>
          <a:xfrm>
            <a:off x="7680960" y="5193792"/>
            <a:ext cx="3870655" cy="775970"/>
          </a:xfrm>
          <a:prstGeom prst="rect">
            <a:avLst/>
          </a:prstGeom>
          <a:noFill/>
          <a:ln/>
        </p:spPr>
        <p:txBody>
          <a:bodyPr wrap="square" lIns="0" tIns="0" rIns="0" bIns="0" rtlCol="0" anchor="t"/>
          <a:lstStyle/>
          <a:p>
            <a:pPr algn="l" indent="0" marL="0">
              <a:buNone/>
            </a:pPr>
            <a:r>
              <a:rPr lang="en-US" sz="1150" b="1" dirty="0">
                <a:solidFill>
                  <a:srgbClr val="12262E"/>
                </a:solidFill>
                <a:latin typeface="Calibri" pitchFamily="34" charset="0"/>
                <a:ea typeface="Calibri" pitchFamily="34" charset="-122"/>
                <a:cs typeface="Calibri" pitchFamily="34" charset="-120"/>
              </a:rPr>
              <a:t>Caveat. </a:t>
            </a:r>
            <a:pPr algn="l" indent="0" marL="0">
              <a:buNone/>
            </a:pPr>
            <a:r>
              <a:rPr lang="en-US" sz="1150" dirty="0">
                <a:solidFill>
                  <a:srgbClr val="12262E"/>
                </a:solidFill>
                <a:latin typeface="Calibri" pitchFamily="34" charset="0"/>
                <a:ea typeface="Calibri" pitchFamily="34" charset="-122"/>
                <a:cs typeface="Calibri" pitchFamily="34" charset="-120"/>
              </a:rPr>
              <a:t>Pooled observations share images and backbones, so the effective sample size is well below n = 3,000. Treat the p-values as descriptive; the 0.7 vs 0.1 contrast is the evidence.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4"/>
          <p:cNvSpPr/>
          <p:nvPr/>
        </p:nvSpPr>
        <p:spPr>
          <a:xfrm>
            <a:off x="457200" y="4914485"/>
            <a:ext cx="3576218" cy="1394875"/>
          </a:xfrm>
          <a:prstGeom prst="roundRect">
            <a:avLst>
              <a:gd name="adj" fmla="val 6555"/>
            </a:avLst>
          </a:prstGeom>
          <a:solidFill>
            <a:srgbClr val="DDEDEF"/>
          </a:solidFill>
          <a:ln w="12700">
            <a:solidFill>
              <a:srgbClr val="DDEDEF"/>
            </a:solidFill>
            <a:prstDash val="solid"/>
          </a:ln>
        </p:spPr>
      </p:sp>
      <p:sp>
        <p:nvSpPr>
          <p:cNvPr id="3" name="Shape 7"/>
          <p:cNvSpPr/>
          <p:nvPr/>
        </p:nvSpPr>
        <p:spPr>
          <a:xfrm>
            <a:off x="4307738" y="4914485"/>
            <a:ext cx="3576218" cy="1394875"/>
          </a:xfrm>
          <a:prstGeom prst="roundRect">
            <a:avLst>
              <a:gd name="adj" fmla="val 6555"/>
            </a:avLst>
          </a:prstGeom>
          <a:solidFill>
            <a:srgbClr val="FBE4DE"/>
          </a:solidFill>
          <a:ln w="12700">
            <a:solidFill>
              <a:srgbClr val="FBE4DE"/>
            </a:solidFill>
            <a:prstDash val="solid"/>
          </a:ln>
        </p:spPr>
      </p:sp>
      <p:sp>
        <p:nvSpPr>
          <p:cNvPr id="4" name="Shape 10"/>
          <p:cNvSpPr/>
          <p:nvPr/>
        </p:nvSpPr>
        <p:spPr>
          <a:xfrm>
            <a:off x="8158277" y="4914485"/>
            <a:ext cx="3576218" cy="1394875"/>
          </a:xfrm>
          <a:prstGeom prst="roundRect">
            <a:avLst>
              <a:gd name="adj" fmla="val 6555"/>
            </a:avLst>
          </a:prstGeom>
          <a:solidFill>
            <a:srgbClr val="E3F2EA"/>
          </a:solidFill>
          <a:ln w="12700">
            <a:solidFill>
              <a:srgbClr val="E3F2EA"/>
            </a:solidFill>
            <a:prstDash val="solid"/>
          </a:ln>
        </p:spPr>
      </p:sp>
      <p:sp>
        <p:nvSpPr>
          <p:cNvPr id="5"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6"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9 / 12</a:t>
            </a:r>
            <a:endParaRPr lang="en-US" sz="900" dirty="0"/>
          </a:p>
        </p:txBody>
      </p:sp>
      <p:sp>
        <p:nvSpPr>
          <p:cNvPr id="7"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MECHANISM, CONTINUED</a:t>
            </a:r>
            <a:endParaRPr lang="en-US" sz="1100" dirty="0"/>
          </a:p>
        </p:txBody>
      </p:sp>
      <p:sp>
        <p:nvSpPr>
          <p:cNvPr id="8"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Where the representation drifts: component-wise CKA to zero-shot MedSAM</a:t>
            </a:r>
            <a:endParaRPr lang="en-US" sz="2700" dirty="0"/>
          </a:p>
        </p:txBody>
      </p:sp>
      <p:pic>
        <p:nvPicPr>
          <p:cNvPr id="9" name="Image 0" descr="/Users/imsounic/medsam-vpt/miccai_safer_talk/pdf_images/p16_0_3044x1096.png">    </p:cNvPr>
          <p:cNvPicPr>
            <a:picLocks noChangeAspect="1"/>
          </p:cNvPicPr>
          <p:nvPr/>
        </p:nvPicPr>
        <p:blipFill>
          <a:blip r:embed="rId1"/>
          <a:stretch>
            <a:fillRect/>
          </a:stretch>
        </p:blipFill>
        <p:spPr>
          <a:xfrm>
            <a:off x="1340968" y="1353312"/>
            <a:ext cx="9509760" cy="3424013"/>
          </a:xfrm>
          <a:prstGeom prst="rect">
            <a:avLst/>
          </a:prstGeom>
        </p:spPr>
      </p:pic>
      <p:sp>
        <p:nvSpPr>
          <p:cNvPr id="10" name="Text 5"/>
          <p:cNvSpPr txBox="1"/>
          <p:nvPr/>
        </p:nvSpPr>
        <p:spPr>
          <a:xfrm>
            <a:off x="640080" y="5005925"/>
            <a:ext cx="3210458" cy="292608"/>
          </a:xfrm>
          <a:prstGeom prst="rect">
            <a:avLst/>
          </a:prstGeom>
          <a:noFill/>
          <a:ln/>
        </p:spPr>
        <p:txBody>
          <a:bodyPr wrap="square" lIns="0" tIns="0" rIns="0" bIns="0" rtlCol="0" anchor="ctr"/>
          <a:lstStyle/>
          <a:p>
            <a:pPr indent="0" marL="0">
              <a:buNone/>
            </a:pPr>
            <a:r>
              <a:rPr lang="en-US" sz="1250" b="1" dirty="0">
                <a:solidFill>
                  <a:srgbClr val="0F2F3C"/>
                </a:solidFill>
                <a:latin typeface="Calibri" pitchFamily="34" charset="0"/>
                <a:ea typeface="Calibri" pitchFamily="34" charset="-122"/>
                <a:cs typeface="Calibri" pitchFamily="34" charset="-120"/>
              </a:rPr>
              <a:t>Encoder (E00–E11, image embedding)</a:t>
            </a:r>
            <a:endParaRPr lang="en-US" sz="1250" dirty="0"/>
          </a:p>
        </p:txBody>
      </p:sp>
      <p:sp>
        <p:nvSpPr>
          <p:cNvPr id="11" name="Text 6"/>
          <p:cNvSpPr txBox="1"/>
          <p:nvPr/>
        </p:nvSpPr>
        <p:spPr>
          <a:xfrm>
            <a:off x="640080" y="5325965"/>
            <a:ext cx="3210458" cy="744220"/>
          </a:xfrm>
          <a:prstGeom prst="rect">
            <a:avLst/>
          </a:prstGeom>
          <a:noFill/>
          <a:ln/>
        </p:spPr>
        <p:txBody>
          <a:bodyPr wrap="square" lIns="0" tIns="0" rIns="0" bIns="0" rtlCol="0" anchor="t"/>
          <a:lstStyle/>
          <a:p>
            <a:pPr algn="l" indent="0" marL="0">
              <a:buNone/>
            </a:pPr>
            <a:r>
              <a:rPr lang="en-US" sz="1100" dirty="0">
                <a:solidFill>
                  <a:srgbClr val="12262E"/>
                </a:solidFill>
                <a:latin typeface="Calibri" pitchFamily="34" charset="0"/>
                <a:ea typeface="Calibri" pitchFamily="34" charset="-122"/>
                <a:cs typeface="Calibri" pitchFamily="34" charset="-120"/>
              </a:rPr>
              <a:t>LoRA, VPT and encoder-only LoRA all drift, down to 0.4–0.6 at the image embedding. Encoder-only LoRA drifts as much as LoRA and is still robust, so encoder drift is not the problem.</a:t>
            </a:r>
            <a:endParaRPr lang="en-US" sz="1100" dirty="0"/>
          </a:p>
        </p:txBody>
      </p:sp>
      <p:sp>
        <p:nvSpPr>
          <p:cNvPr id="12" name="Text 8"/>
          <p:cNvSpPr txBox="1"/>
          <p:nvPr/>
        </p:nvSpPr>
        <p:spPr>
          <a:xfrm>
            <a:off x="4490618" y="5005925"/>
            <a:ext cx="3210458" cy="292608"/>
          </a:xfrm>
          <a:prstGeom prst="rect">
            <a:avLst/>
          </a:prstGeom>
          <a:noFill/>
          <a:ln/>
        </p:spPr>
        <p:txBody>
          <a:bodyPr wrap="square" lIns="0" tIns="0" rIns="0" bIns="0" rtlCol="0" anchor="ctr"/>
          <a:lstStyle/>
          <a:p>
            <a:pPr indent="0" marL="0">
              <a:buNone/>
            </a:pPr>
            <a:r>
              <a:rPr lang="en-US" sz="1250" b="1" dirty="0">
                <a:solidFill>
                  <a:srgbClr val="0F2F3C"/>
                </a:solidFill>
                <a:latin typeface="Calibri" pitchFamily="34" charset="0"/>
                <a:ea typeface="Calibri" pitchFamily="34" charset="-122"/>
                <a:cs typeface="Calibri" pitchFamily="34" charset="-120"/>
              </a:rPr>
              <a:t>Decoder attention, IoU and mask tokens</a:t>
            </a:r>
            <a:endParaRPr lang="en-US" sz="1250" dirty="0"/>
          </a:p>
        </p:txBody>
      </p:sp>
      <p:sp>
        <p:nvSpPr>
          <p:cNvPr id="13" name="Text 9"/>
          <p:cNvSpPr txBox="1"/>
          <p:nvPr/>
        </p:nvSpPr>
        <p:spPr>
          <a:xfrm>
            <a:off x="4490618" y="5325965"/>
            <a:ext cx="3210458" cy="744220"/>
          </a:xfrm>
          <a:prstGeom prst="rect">
            <a:avLst/>
          </a:prstGeom>
          <a:noFill/>
          <a:ln/>
        </p:spPr>
        <p:txBody>
          <a:bodyPr wrap="square" lIns="0" tIns="0" rIns="0" bIns="0" rtlCol="0" anchor="t"/>
          <a:lstStyle/>
          <a:p>
            <a:pPr algn="l" indent="0" marL="0">
              <a:buNone/>
            </a:pPr>
            <a:r>
              <a:rPr lang="en-US" sz="1100" dirty="0">
                <a:solidFill>
                  <a:srgbClr val="12262E"/>
                </a:solidFill>
                <a:latin typeface="Calibri" pitchFamily="34" charset="0"/>
                <a:ea typeface="Calibri" pitchFamily="34" charset="-122"/>
                <a:cs typeface="Calibri" pitchFamily="34" charset="-120"/>
              </a:rPr>
              <a:t>LoRA and VPT collapse to 0.2–0.3 at the final attention queries and the IoU and mask tokens. Decoder-only, Full FT and encoder-only LoRA stay at 0.7–0.9.</a:t>
            </a:r>
            <a:endParaRPr lang="en-US" sz="1100" dirty="0"/>
          </a:p>
        </p:txBody>
      </p:sp>
      <p:sp>
        <p:nvSpPr>
          <p:cNvPr id="14" name="Text 11"/>
          <p:cNvSpPr txBox="1"/>
          <p:nvPr/>
        </p:nvSpPr>
        <p:spPr>
          <a:xfrm>
            <a:off x="8341157" y="5005925"/>
            <a:ext cx="3210458" cy="292608"/>
          </a:xfrm>
          <a:prstGeom prst="rect">
            <a:avLst/>
          </a:prstGeom>
          <a:noFill/>
          <a:ln/>
        </p:spPr>
        <p:txBody>
          <a:bodyPr wrap="square" lIns="0" tIns="0" rIns="0" bIns="0" rtlCol="0" anchor="ctr"/>
          <a:lstStyle/>
          <a:p>
            <a:pPr indent="0" marL="0">
              <a:buNone/>
            </a:pPr>
            <a:r>
              <a:rPr lang="en-US" sz="1250" b="1" dirty="0">
                <a:solidFill>
                  <a:srgbClr val="0F2F3C"/>
                </a:solidFill>
                <a:latin typeface="Calibri" pitchFamily="34" charset="0"/>
                <a:ea typeface="Calibri" pitchFamily="34" charset="-122"/>
                <a:cs typeface="Calibri" pitchFamily="34" charset="-120"/>
              </a:rPr>
              <a:t>What the decoder does</a:t>
            </a:r>
            <a:endParaRPr lang="en-US" sz="1250" dirty="0"/>
          </a:p>
        </p:txBody>
      </p:sp>
      <p:sp>
        <p:nvSpPr>
          <p:cNvPr id="15" name="Text 12"/>
          <p:cNvSpPr txBox="1"/>
          <p:nvPr/>
        </p:nvSpPr>
        <p:spPr>
          <a:xfrm>
            <a:off x="8341157" y="5325965"/>
            <a:ext cx="3210458" cy="569595"/>
          </a:xfrm>
          <a:prstGeom prst="rect">
            <a:avLst/>
          </a:prstGeom>
          <a:noFill/>
          <a:ln/>
        </p:spPr>
        <p:txBody>
          <a:bodyPr wrap="square" lIns="0" tIns="0" rIns="0" bIns="0" rtlCol="0" anchor="t"/>
          <a:lstStyle/>
          <a:p>
            <a:pPr algn="l" indent="0" marL="0">
              <a:buNone/>
            </a:pPr>
            <a:r>
              <a:rPr lang="en-US" sz="1100" dirty="0">
                <a:solidFill>
                  <a:srgbClr val="12262E"/>
                </a:solidFill>
                <a:latin typeface="Calibri" pitchFamily="34" charset="0"/>
                <a:ea typeface="Calibri" pitchFamily="34" charset="-122"/>
                <a:cs typeface="Calibri" pitchFamily="34" charset="-120"/>
              </a:rPr>
              <a:t>It turns a prompt into a mask. That mapping is the transferable part of MedSAM; adapters that rewrite it throw the far-OOD ability away.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4"/>
          <p:cNvSpPr/>
          <p:nvPr/>
        </p:nvSpPr>
        <p:spPr>
          <a:xfrm>
            <a:off x="457200" y="1353312"/>
            <a:ext cx="11277295" cy="742188"/>
          </a:xfrm>
          <a:prstGeom prst="roundRect">
            <a:avLst>
              <a:gd name="adj" fmla="val 12320"/>
            </a:avLst>
          </a:prstGeom>
          <a:solidFill>
            <a:srgbClr val="E3F2EA"/>
          </a:solidFill>
          <a:ln w="12700">
            <a:solidFill>
              <a:srgbClr val="E3F2EA"/>
            </a:solidFill>
            <a:prstDash val="solid"/>
          </a:ln>
        </p:spPr>
      </p:sp>
      <p:sp>
        <p:nvSpPr>
          <p:cNvPr id="3" name="Shape 8"/>
          <p:cNvSpPr/>
          <p:nvPr/>
        </p:nvSpPr>
        <p:spPr>
          <a:xfrm>
            <a:off x="457200" y="2186940"/>
            <a:ext cx="11277295" cy="742188"/>
          </a:xfrm>
          <a:prstGeom prst="roundRect">
            <a:avLst>
              <a:gd name="adj" fmla="val 12320"/>
            </a:avLst>
          </a:prstGeom>
          <a:solidFill>
            <a:srgbClr val="E3F2EA"/>
          </a:solidFill>
          <a:ln w="12700">
            <a:solidFill>
              <a:srgbClr val="E3F2EA"/>
            </a:solidFill>
            <a:prstDash val="solid"/>
          </a:ln>
        </p:spPr>
      </p:sp>
      <p:sp>
        <p:nvSpPr>
          <p:cNvPr id="4" name="Shape 12"/>
          <p:cNvSpPr/>
          <p:nvPr/>
        </p:nvSpPr>
        <p:spPr>
          <a:xfrm>
            <a:off x="457200" y="3020568"/>
            <a:ext cx="11277295" cy="742188"/>
          </a:xfrm>
          <a:prstGeom prst="roundRect">
            <a:avLst>
              <a:gd name="adj" fmla="val 12320"/>
            </a:avLst>
          </a:prstGeom>
          <a:solidFill>
            <a:srgbClr val="DDEDEF"/>
          </a:solidFill>
          <a:ln w="12700">
            <a:solidFill>
              <a:srgbClr val="DDEDEF"/>
            </a:solidFill>
            <a:prstDash val="solid"/>
          </a:ln>
        </p:spPr>
      </p:sp>
      <p:sp>
        <p:nvSpPr>
          <p:cNvPr id="5" name="Shape 16"/>
          <p:cNvSpPr/>
          <p:nvPr/>
        </p:nvSpPr>
        <p:spPr>
          <a:xfrm>
            <a:off x="457200" y="3854196"/>
            <a:ext cx="11277295" cy="742188"/>
          </a:xfrm>
          <a:prstGeom prst="roundRect">
            <a:avLst>
              <a:gd name="adj" fmla="val 12320"/>
            </a:avLst>
          </a:prstGeom>
          <a:solidFill>
            <a:srgbClr val="DDEDEF"/>
          </a:solidFill>
          <a:ln w="12700">
            <a:solidFill>
              <a:srgbClr val="DDEDEF"/>
            </a:solidFill>
            <a:prstDash val="solid"/>
          </a:ln>
        </p:spPr>
      </p:sp>
      <p:sp>
        <p:nvSpPr>
          <p:cNvPr id="6" name="Shape 20"/>
          <p:cNvSpPr/>
          <p:nvPr/>
        </p:nvSpPr>
        <p:spPr>
          <a:xfrm>
            <a:off x="457200" y="4687824"/>
            <a:ext cx="11277295" cy="742188"/>
          </a:xfrm>
          <a:prstGeom prst="roundRect">
            <a:avLst>
              <a:gd name="adj" fmla="val 12320"/>
            </a:avLst>
          </a:prstGeom>
          <a:solidFill>
            <a:srgbClr val="FBE4DE"/>
          </a:solidFill>
          <a:ln w="12700">
            <a:solidFill>
              <a:srgbClr val="FBE4DE"/>
            </a:solidFill>
            <a:prstDash val="solid"/>
          </a:ln>
        </p:spPr>
      </p:sp>
      <p:sp>
        <p:nvSpPr>
          <p:cNvPr id="7" name="Shape 24"/>
          <p:cNvSpPr/>
          <p:nvPr/>
        </p:nvSpPr>
        <p:spPr>
          <a:xfrm>
            <a:off x="457200" y="5521452"/>
            <a:ext cx="11277295" cy="742188"/>
          </a:xfrm>
          <a:prstGeom prst="roundRect">
            <a:avLst>
              <a:gd name="adj" fmla="val 12320"/>
            </a:avLst>
          </a:prstGeom>
          <a:solidFill>
            <a:srgbClr val="FBE4DE"/>
          </a:solidFill>
          <a:ln w="12700">
            <a:solidFill>
              <a:srgbClr val="FBE4DE"/>
            </a:solidFill>
            <a:prstDash val="solid"/>
          </a:ln>
        </p:spPr>
      </p:sp>
      <p:sp>
        <p:nvSpPr>
          <p:cNvPr id="8"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9"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10 / 12</a:t>
            </a:r>
            <a:endParaRPr lang="en-US" sz="900" dirty="0"/>
          </a:p>
        </p:txBody>
      </p:sp>
      <p:sp>
        <p:nvSpPr>
          <p:cNvPr id="10"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PRACTICAL GUIDANCE</a:t>
            </a:r>
            <a:endParaRPr lang="en-US" sz="1100" dirty="0"/>
          </a:p>
        </p:txBody>
      </p:sp>
      <p:sp>
        <p:nvSpPr>
          <p:cNvPr id="11"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Which adapter, which training regime</a:t>
            </a:r>
            <a:endParaRPr lang="en-US" sz="2700" dirty="0"/>
          </a:p>
        </p:txBody>
      </p:sp>
      <p:sp>
        <p:nvSpPr>
          <p:cNvPr id="12" name="Text 5"/>
          <p:cNvSpPr txBox="1"/>
          <p:nvPr/>
        </p:nvSpPr>
        <p:spPr>
          <a:xfrm>
            <a:off x="685800" y="1353312"/>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Compute available, far-OOD data expected</a:t>
            </a:r>
            <a:endParaRPr lang="en-US" sz="1250" dirty="0"/>
          </a:p>
        </p:txBody>
      </p:sp>
      <p:sp>
        <p:nvSpPr>
          <p:cNvPr id="13" name="Text 6"/>
          <p:cNvSpPr txBox="1"/>
          <p:nvPr/>
        </p:nvSpPr>
        <p:spPr>
          <a:xfrm>
            <a:off x="4343400" y="1353312"/>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Full fine-tuning at LR 1e-5</a:t>
            </a:r>
            <a:endParaRPr lang="en-US" sz="1500" dirty="0"/>
          </a:p>
        </p:txBody>
      </p:sp>
      <p:sp>
        <p:nvSpPr>
          <p:cNvPr id="14" name="Text 7"/>
          <p:cNvSpPr txBox="1"/>
          <p:nvPr/>
        </p:nvSpPr>
        <p:spPr>
          <a:xfrm>
            <a:off x="8046720" y="1353312"/>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Best trade-off in every regime; 93.7M parameters.</a:t>
            </a:r>
            <a:endParaRPr lang="en-US" sz="1250" dirty="0"/>
          </a:p>
        </p:txBody>
      </p:sp>
      <p:sp>
        <p:nvSpPr>
          <p:cNvPr id="15" name="Text 9"/>
          <p:cNvSpPr txBox="1"/>
          <p:nvPr/>
        </p:nvSpPr>
        <p:spPr>
          <a:xfrm>
            <a:off x="685800" y="2186940"/>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Parameter-efficient adaptation</a:t>
            </a:r>
            <a:endParaRPr lang="en-US" sz="1250" dirty="0"/>
          </a:p>
        </p:txBody>
      </p:sp>
      <p:sp>
        <p:nvSpPr>
          <p:cNvPr id="16" name="Text 10"/>
          <p:cNvSpPr txBox="1"/>
          <p:nvPr/>
        </p:nvSpPr>
        <p:spPr>
          <a:xfrm>
            <a:off x="4343400" y="2186940"/>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Encoder-only LoRA</a:t>
            </a:r>
            <a:endParaRPr lang="en-US" sz="1500" dirty="0"/>
          </a:p>
        </p:txBody>
      </p:sp>
      <p:sp>
        <p:nvSpPr>
          <p:cNvPr id="17" name="Text 11"/>
          <p:cNvSpPr txBox="1"/>
          <p:nvPr/>
        </p:nvSpPr>
        <p:spPr>
          <a:xfrm>
            <a:off x="8046720" y="2186940"/>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Best PEFT far-OOD, competitive with Full FT, 4.1M parameters. Keep the decoder frozen.</a:t>
            </a:r>
            <a:endParaRPr lang="en-US" sz="1250" dirty="0"/>
          </a:p>
        </p:txBody>
      </p:sp>
      <p:sp>
        <p:nvSpPr>
          <p:cNvPr id="18" name="Text 13"/>
          <p:cNvSpPr txBox="1"/>
          <p:nvPr/>
        </p:nvSpPr>
        <p:spPr>
          <a:xfrm>
            <a:off x="685800" y="3020568"/>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Only the target domain, clean prompts</a:t>
            </a:r>
            <a:endParaRPr lang="en-US" sz="1250" dirty="0"/>
          </a:p>
        </p:txBody>
      </p:sp>
      <p:sp>
        <p:nvSpPr>
          <p:cNvPr id="19" name="Text 14"/>
          <p:cNvSpPr txBox="1"/>
          <p:nvPr/>
        </p:nvSpPr>
        <p:spPr>
          <a:xfrm>
            <a:off x="4343400" y="3020568"/>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Standard LoRA</a:t>
            </a:r>
            <a:endParaRPr lang="en-US" sz="1500" dirty="0"/>
          </a:p>
        </p:txBody>
      </p:sp>
      <p:sp>
        <p:nvSpPr>
          <p:cNvPr id="20" name="Text 15"/>
          <p:cNvSpPr txBox="1"/>
          <p:nvPr/>
        </p:nvSpPr>
        <p:spPr>
          <a:xfrm>
            <a:off x="8046720" y="3020568"/>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Largest in-domain and close-OOD gains; do not deploy it far-OOD.</a:t>
            </a:r>
            <a:endParaRPr lang="en-US" sz="1250" dirty="0"/>
          </a:p>
        </p:txBody>
      </p:sp>
      <p:sp>
        <p:nvSpPr>
          <p:cNvPr id="21" name="Text 17"/>
          <p:cNvSpPr txBox="1"/>
          <p:nvPr/>
        </p:nvSpPr>
        <p:spPr>
          <a:xfrm>
            <a:off x="685800" y="3854196"/>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Any regime</a:t>
            </a:r>
            <a:endParaRPr lang="en-US" sz="1250" dirty="0"/>
          </a:p>
        </p:txBody>
      </p:sp>
      <p:sp>
        <p:nvSpPr>
          <p:cNvPr id="22" name="Text 18"/>
          <p:cNvSpPr txBox="1"/>
          <p:nvPr/>
        </p:nvSpPr>
        <p:spPr>
          <a:xfrm>
            <a:off x="4343400" y="3854196"/>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Train with random 0–100 px box jitter</a:t>
            </a:r>
            <a:endParaRPr lang="en-US" sz="1500" dirty="0"/>
          </a:p>
        </p:txBody>
      </p:sp>
      <p:sp>
        <p:nvSpPr>
          <p:cNvPr id="23" name="Text 19"/>
          <p:cNvSpPr txBox="1"/>
          <p:nvPr/>
        </p:nvSpPr>
        <p:spPr>
          <a:xfrm>
            <a:off x="8046720" y="3854196"/>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Fixed-jitter training overfits one noise level.</a:t>
            </a:r>
            <a:endParaRPr lang="en-US" sz="1250" dirty="0"/>
          </a:p>
        </p:txBody>
      </p:sp>
      <p:sp>
        <p:nvSpPr>
          <p:cNvPr id="24" name="Text 21"/>
          <p:cNvSpPr txBox="1"/>
          <p:nvPr/>
        </p:nvSpPr>
        <p:spPr>
          <a:xfrm>
            <a:off x="685800" y="4687824"/>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Any regime</a:t>
            </a:r>
            <a:endParaRPr lang="en-US" sz="1250" dirty="0"/>
          </a:p>
        </p:txBody>
      </p:sp>
      <p:sp>
        <p:nvSpPr>
          <p:cNvPr id="25" name="Text 22"/>
          <p:cNvSpPr txBox="1"/>
          <p:nvPr/>
        </p:nvSpPr>
        <p:spPr>
          <a:xfrm>
            <a:off x="4343400" y="4687824"/>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Avoid VPT on MedSAM</a:t>
            </a:r>
            <a:endParaRPr lang="en-US" sz="1500" dirty="0"/>
          </a:p>
        </p:txBody>
      </p:sp>
      <p:sp>
        <p:nvSpPr>
          <p:cNvPr id="26" name="Text 23"/>
          <p:cNvSpPr txBox="1"/>
          <p:nvPr/>
        </p:nvSpPr>
        <p:spPr>
          <a:xfrm>
            <a:off x="8046720" y="4687824"/>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Negligible in-domain gain, large far-OOD loss.</a:t>
            </a:r>
            <a:endParaRPr lang="en-US" sz="1250" dirty="0"/>
          </a:p>
        </p:txBody>
      </p:sp>
      <p:sp>
        <p:nvSpPr>
          <p:cNvPr id="27" name="Text 25"/>
          <p:cNvSpPr txBox="1"/>
          <p:nvPr/>
        </p:nvSpPr>
        <p:spPr>
          <a:xfrm>
            <a:off x="685800" y="5521452"/>
            <a:ext cx="3566160" cy="742188"/>
          </a:xfrm>
          <a:prstGeom prst="rect">
            <a:avLst/>
          </a:prstGeom>
          <a:noFill/>
          <a:ln/>
        </p:spPr>
        <p:txBody>
          <a:bodyPr wrap="square" lIns="0" tIns="0" rIns="0" bIns="0" rtlCol="0" anchor="ctr"/>
          <a:lstStyle/>
          <a:p>
            <a:pPr indent="0" marL="0">
              <a:buNone/>
            </a:pPr>
            <a:r>
              <a:rPr lang="en-US" sz="1250" dirty="0">
                <a:solidFill>
                  <a:srgbClr val="5B6B72"/>
                </a:solidFill>
                <a:latin typeface="Calibri" pitchFamily="34" charset="0"/>
                <a:ea typeface="Calibri" pitchFamily="34" charset="-122"/>
                <a:cs typeface="Calibri" pitchFamily="34" charset="-120"/>
              </a:rPr>
              <a:t>Severe prompt noise on far-OOD data</a:t>
            </a:r>
            <a:endParaRPr lang="en-US" sz="1250" dirty="0"/>
          </a:p>
        </p:txBody>
      </p:sp>
      <p:sp>
        <p:nvSpPr>
          <p:cNvPr id="28" name="Text 26"/>
          <p:cNvSpPr txBox="1"/>
          <p:nvPr/>
        </p:nvSpPr>
        <p:spPr>
          <a:xfrm>
            <a:off x="4343400" y="5521452"/>
            <a:ext cx="3566160" cy="742188"/>
          </a:xfrm>
          <a:prstGeom prst="rect">
            <a:avLst/>
          </a:prstGeom>
          <a:noFill/>
          <a:ln/>
        </p:spPr>
        <p:txBody>
          <a:bodyPr wrap="square" lIns="0" tIns="0" rIns="0" bIns="0" rtlCol="0" anchor="ctr"/>
          <a:lstStyle/>
          <a:p>
            <a:pPr indent="0" marL="0">
              <a:buNone/>
            </a:pPr>
            <a:r>
              <a:rPr lang="en-US" sz="1500" b="1" dirty="0">
                <a:solidFill>
                  <a:srgbClr val="0F2F3C"/>
                </a:solidFill>
                <a:latin typeface="Calibri" pitchFamily="34" charset="0"/>
                <a:ea typeface="Calibri" pitchFamily="34" charset="-122"/>
                <a:cs typeface="Calibri" pitchFamily="34" charset="-120"/>
              </a:rPr>
              <a:t>Zero-shot MedSAM as fallback</a:t>
            </a:r>
            <a:endParaRPr lang="en-US" sz="1500" dirty="0"/>
          </a:p>
        </p:txBody>
      </p:sp>
      <p:sp>
        <p:nvSpPr>
          <p:cNvPr id="29" name="Text 27"/>
          <p:cNvSpPr txBox="1"/>
          <p:nvPr/>
        </p:nvSpPr>
        <p:spPr>
          <a:xfrm>
            <a:off x="8046720" y="5521452"/>
            <a:ext cx="3459175" cy="742188"/>
          </a:xfrm>
          <a:prstGeom prst="rect">
            <a:avLst/>
          </a:prstGeom>
          <a:noFill/>
          <a:ln/>
        </p:spPr>
        <p:txBody>
          <a:bodyPr wrap="square" lIns="0" tIns="0" rIns="0" bIns="0" rtlCol="0" anchor="ctr"/>
          <a:lstStyle/>
          <a:p>
            <a:pPr indent="0" marL="0">
              <a:buNone/>
            </a:pPr>
            <a:r>
              <a:rPr lang="en-US" sz="1250" dirty="0">
                <a:solidFill>
                  <a:srgbClr val="12262E"/>
                </a:solidFill>
                <a:latin typeface="Calibri" pitchFamily="34" charset="0"/>
                <a:ea typeface="Calibri" pitchFamily="34" charset="-122"/>
                <a:cs typeface="Calibri" pitchFamily="34" charset="-120"/>
              </a:rPr>
              <a:t>Still hard to beat once boxes are 100 px off.</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4"/>
          <p:cNvSpPr/>
          <p:nvPr/>
        </p:nvSpPr>
        <p:spPr>
          <a:xfrm>
            <a:off x="457200" y="1353312"/>
            <a:ext cx="5501488" cy="2318004"/>
          </a:xfrm>
          <a:prstGeom prst="roundRect">
            <a:avLst>
              <a:gd name="adj" fmla="val 3945"/>
            </a:avLst>
          </a:prstGeom>
          <a:solidFill>
            <a:srgbClr val="F2F6F7"/>
          </a:solidFill>
          <a:ln w="12700">
            <a:solidFill>
              <a:srgbClr val="F2F6F7"/>
            </a:solidFill>
            <a:prstDash val="solid"/>
          </a:ln>
        </p:spPr>
      </p:sp>
      <p:sp>
        <p:nvSpPr>
          <p:cNvPr id="3" name="Shape 9"/>
          <p:cNvSpPr/>
          <p:nvPr/>
        </p:nvSpPr>
        <p:spPr>
          <a:xfrm>
            <a:off x="6233008" y="1353312"/>
            <a:ext cx="5501488" cy="2318004"/>
          </a:xfrm>
          <a:prstGeom prst="roundRect">
            <a:avLst>
              <a:gd name="adj" fmla="val 3945"/>
            </a:avLst>
          </a:prstGeom>
          <a:solidFill>
            <a:srgbClr val="F2F6F7"/>
          </a:solidFill>
          <a:ln w="12700">
            <a:solidFill>
              <a:srgbClr val="F2F6F7"/>
            </a:solidFill>
            <a:prstDash val="solid"/>
          </a:ln>
        </p:spPr>
      </p:sp>
      <p:sp>
        <p:nvSpPr>
          <p:cNvPr id="4" name="Shape 14"/>
          <p:cNvSpPr/>
          <p:nvPr/>
        </p:nvSpPr>
        <p:spPr>
          <a:xfrm>
            <a:off x="457200" y="3945636"/>
            <a:ext cx="5501488" cy="2318004"/>
          </a:xfrm>
          <a:prstGeom prst="roundRect">
            <a:avLst>
              <a:gd name="adj" fmla="val 3945"/>
            </a:avLst>
          </a:prstGeom>
          <a:solidFill>
            <a:srgbClr val="F2F6F7"/>
          </a:solidFill>
          <a:ln w="12700">
            <a:solidFill>
              <a:srgbClr val="F2F6F7"/>
            </a:solidFill>
            <a:prstDash val="solid"/>
          </a:ln>
        </p:spPr>
      </p:sp>
      <p:sp>
        <p:nvSpPr>
          <p:cNvPr id="5" name="Shape 19"/>
          <p:cNvSpPr/>
          <p:nvPr/>
        </p:nvSpPr>
        <p:spPr>
          <a:xfrm>
            <a:off x="6233008" y="3945636"/>
            <a:ext cx="5501488" cy="2318004"/>
          </a:xfrm>
          <a:prstGeom prst="roundRect">
            <a:avLst>
              <a:gd name="adj" fmla="val 3945"/>
            </a:avLst>
          </a:prstGeom>
          <a:solidFill>
            <a:srgbClr val="F2F6F7"/>
          </a:solidFill>
          <a:ln w="12700">
            <a:solidFill>
              <a:srgbClr val="F2F6F7"/>
            </a:solidFill>
            <a:prstDash val="solid"/>
          </a:ln>
        </p:spPr>
      </p:sp>
      <p:sp>
        <p:nvSpPr>
          <p:cNvPr id="6"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When Adaptation Hurts · MICCAI 2026 SAFER Workshop</a:t>
            </a:r>
            <a:endParaRPr lang="en-US" sz="900" dirty="0"/>
          </a:p>
        </p:txBody>
      </p:sp>
      <p:sp>
        <p:nvSpPr>
          <p:cNvPr id="7" name="Text 1"/>
          <p:cNvSpPr txBox="1"/>
          <p:nvPr/>
        </p:nvSpPr>
        <p:spPr>
          <a:xfrm>
            <a:off x="10637215" y="6473952"/>
            <a:ext cx="1097280" cy="274320"/>
          </a:xfrm>
          <a:prstGeom prst="rect">
            <a:avLst/>
          </a:prstGeom>
          <a:noFill/>
          <a:ln/>
        </p:spPr>
        <p:txBody>
          <a:bodyPr wrap="square" lIns="0" tIns="0" rIns="0" bIns="0" rtlCol="0" anchor="ctr"/>
          <a:lstStyle/>
          <a:p>
            <a:pPr algn="r" indent="0" marL="0">
              <a:buNone/>
            </a:pPr>
            <a:r>
              <a:rPr lang="en-US" sz="900" dirty="0">
                <a:solidFill>
                  <a:srgbClr val="5B6B72"/>
                </a:solidFill>
                <a:latin typeface="Calibri" pitchFamily="34" charset="0"/>
                <a:ea typeface="Calibri" pitchFamily="34" charset="-122"/>
                <a:cs typeface="Calibri" pitchFamily="34" charset="-120"/>
              </a:rPr>
              <a:t>11 / 12</a:t>
            </a:r>
            <a:endParaRPr lang="en-US" sz="900" dirty="0"/>
          </a:p>
        </p:txBody>
      </p:sp>
      <p:sp>
        <p:nvSpPr>
          <p:cNvPr id="8" name="Text 2"/>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LIMITATIONS</a:t>
            </a:r>
            <a:endParaRPr lang="en-US" sz="1100" dirty="0"/>
          </a:p>
        </p:txBody>
      </p:sp>
      <p:sp>
        <p:nvSpPr>
          <p:cNvPr id="9" name="Text 3"/>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0F2F3C"/>
                </a:solidFill>
                <a:latin typeface="Calibri" pitchFamily="34" charset="0"/>
                <a:ea typeface="Calibri" pitchFamily="34" charset="-122"/>
                <a:cs typeface="Calibri" pitchFamily="34" charset="-120"/>
              </a:rPr>
              <a:t>Read the ranking, not the absolute Dice</a:t>
            </a:r>
            <a:endParaRPr lang="en-US" sz="2700" dirty="0"/>
          </a:p>
        </p:txBody>
      </p:sp>
      <p:sp>
        <p:nvSpPr>
          <p:cNvPr id="10" name="Shape 5"/>
          <p:cNvSpPr/>
          <p:nvPr/>
        </p:nvSpPr>
        <p:spPr>
          <a:xfrm>
            <a:off x="685800" y="1581912"/>
            <a:ext cx="347472" cy="347472"/>
          </a:xfrm>
          <a:prstGeom prst="ellipse">
            <a:avLst/>
          </a:prstGeom>
          <a:solidFill>
            <a:srgbClr val="0E7C86"/>
          </a:solidFill>
          <a:ln w="12700">
            <a:solidFill>
              <a:srgbClr val="0E7C86"/>
            </a:solidFill>
            <a:prstDash val="solid"/>
          </a:ln>
        </p:spPr>
      </p:sp>
      <p:sp>
        <p:nvSpPr>
          <p:cNvPr id="11" name="Text 6"/>
          <p:cNvSpPr txBox="1"/>
          <p:nvPr/>
        </p:nvSpPr>
        <p:spPr>
          <a:xfrm>
            <a:off x="685800" y="158191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7"/>
          <p:cNvSpPr txBox="1"/>
          <p:nvPr/>
        </p:nvSpPr>
        <p:spPr>
          <a:xfrm>
            <a:off x="1143000" y="1536192"/>
            <a:ext cx="4587088" cy="438912"/>
          </a:xfrm>
          <a:prstGeom prst="rect">
            <a:avLst/>
          </a:prstGeom>
          <a:noFill/>
          <a:ln/>
        </p:spPr>
        <p:txBody>
          <a:bodyPr wrap="square" lIns="0" tIns="0" rIns="0" bIns="0" rtlCol="0" anchor="ctr"/>
          <a:lstStyle/>
          <a:p>
            <a:pPr indent="0" marL="0">
              <a:buNone/>
            </a:pPr>
            <a:r>
              <a:rPr lang="en-US" sz="1600" b="1" dirty="0">
                <a:solidFill>
                  <a:srgbClr val="0F2F3C"/>
                </a:solidFill>
                <a:latin typeface="Calibri" pitchFamily="34" charset="0"/>
                <a:ea typeface="Calibri" pitchFamily="34" charset="-122"/>
                <a:cs typeface="Calibri" pitchFamily="34" charset="-120"/>
              </a:rPr>
              <a:t>Asymmetric ladder</a:t>
            </a:r>
            <a:endParaRPr lang="en-US" sz="1600" dirty="0"/>
          </a:p>
        </p:txBody>
      </p:sp>
      <p:sp>
        <p:nvSpPr>
          <p:cNvPr id="13" name="Text 8"/>
          <p:cNvSpPr txBox="1"/>
          <p:nvPr/>
        </p:nvSpPr>
        <p:spPr>
          <a:xfrm>
            <a:off x="685800" y="2130552"/>
            <a:ext cx="5044288" cy="664845"/>
          </a:xfrm>
          <a:prstGeom prst="rect">
            <a:avLst/>
          </a:prstGeom>
          <a:noFill/>
          <a:ln/>
        </p:spPr>
        <p:txBody>
          <a:bodyPr wrap="square" lIns="0" tIns="0" rIns="0" bIns="0" rtlCol="0" anchor="t"/>
          <a:lstStyle/>
          <a:p>
            <a:pPr algn="l" indent="0" marL="0">
              <a:buNone/>
            </a:pPr>
            <a:r>
              <a:rPr lang="en-US" sz="1300" dirty="0">
                <a:solidFill>
                  <a:srgbClr val="12262E"/>
                </a:solidFill>
                <a:latin typeface="Calibri" pitchFamily="34" charset="0"/>
                <a:ea typeface="Calibri" pitchFamily="34" charset="-122"/>
                <a:cs typeface="Calibri" pitchFamily="34" charset="-120"/>
              </a:rPr>
              <a:t>One training domain (dermoscopy) and two far-OOD targets. Modality shift is confounded with lesion-type mismatch; the absolute far-OOD Dice is a robustness indicator, not a clinical estimate.</a:t>
            </a:r>
            <a:endParaRPr lang="en-US" sz="1300" dirty="0"/>
          </a:p>
        </p:txBody>
      </p:sp>
      <p:sp>
        <p:nvSpPr>
          <p:cNvPr id="14" name="Shape 10"/>
          <p:cNvSpPr/>
          <p:nvPr/>
        </p:nvSpPr>
        <p:spPr>
          <a:xfrm>
            <a:off x="6461608" y="1581912"/>
            <a:ext cx="347472" cy="347472"/>
          </a:xfrm>
          <a:prstGeom prst="ellipse">
            <a:avLst/>
          </a:prstGeom>
          <a:solidFill>
            <a:srgbClr val="0E7C86"/>
          </a:solidFill>
          <a:ln w="12700">
            <a:solidFill>
              <a:srgbClr val="0E7C86"/>
            </a:solidFill>
            <a:prstDash val="solid"/>
          </a:ln>
        </p:spPr>
      </p:sp>
      <p:sp>
        <p:nvSpPr>
          <p:cNvPr id="15" name="Text 11"/>
          <p:cNvSpPr txBox="1"/>
          <p:nvPr/>
        </p:nvSpPr>
        <p:spPr>
          <a:xfrm>
            <a:off x="6461608" y="158191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6918808" y="1536192"/>
            <a:ext cx="4587088" cy="438912"/>
          </a:xfrm>
          <a:prstGeom prst="rect">
            <a:avLst/>
          </a:prstGeom>
          <a:noFill/>
          <a:ln/>
        </p:spPr>
        <p:txBody>
          <a:bodyPr wrap="square" lIns="0" tIns="0" rIns="0" bIns="0" rtlCol="0" anchor="ctr"/>
          <a:lstStyle/>
          <a:p>
            <a:pPr indent="0" marL="0">
              <a:buNone/>
            </a:pPr>
            <a:r>
              <a:rPr lang="en-US" sz="1600" b="1" dirty="0">
                <a:solidFill>
                  <a:srgbClr val="0F2F3C"/>
                </a:solidFill>
                <a:latin typeface="Calibri" pitchFamily="34" charset="0"/>
                <a:ea typeface="Calibri" pitchFamily="34" charset="-122"/>
                <a:cs typeface="Calibri" pitchFamily="34" charset="-120"/>
              </a:rPr>
              <a:t>Jitter difficulty is dataset-dependent</a:t>
            </a:r>
            <a:endParaRPr lang="en-US" sz="1600" dirty="0"/>
          </a:p>
        </p:txBody>
      </p:sp>
      <p:sp>
        <p:nvSpPr>
          <p:cNvPr id="17" name="Text 13"/>
          <p:cNvSpPr txBox="1"/>
          <p:nvPr/>
        </p:nvSpPr>
        <p:spPr>
          <a:xfrm>
            <a:off x="6461608" y="2130552"/>
            <a:ext cx="5044288" cy="458470"/>
          </a:xfrm>
          <a:prstGeom prst="rect">
            <a:avLst/>
          </a:prstGeom>
          <a:noFill/>
          <a:ln/>
        </p:spPr>
        <p:txBody>
          <a:bodyPr wrap="square" lIns="0" tIns="0" rIns="0" bIns="0" rtlCol="0" anchor="t"/>
          <a:lstStyle/>
          <a:p>
            <a:pPr algn="l" indent="0" marL="0">
              <a:buNone/>
            </a:pPr>
            <a:r>
              <a:rPr lang="en-US" sz="1300" dirty="0">
                <a:solidFill>
                  <a:srgbClr val="12262E"/>
                </a:solidFill>
                <a:latin typeface="Calibri" pitchFamily="34" charset="0"/>
                <a:ea typeface="Calibri" pitchFamily="34" charset="-122"/>
                <a:cs typeface="Calibri" pitchFamily="34" charset="-120"/>
              </a:rPr>
              <a:t>200 px is +152% box area on ISIC but +1,328% on CBIS-DDSM. Far-OOD evaluation is harder by construction.</a:t>
            </a:r>
            <a:endParaRPr lang="en-US" sz="1300" dirty="0"/>
          </a:p>
        </p:txBody>
      </p:sp>
      <p:sp>
        <p:nvSpPr>
          <p:cNvPr id="18" name="Shape 15"/>
          <p:cNvSpPr/>
          <p:nvPr/>
        </p:nvSpPr>
        <p:spPr>
          <a:xfrm>
            <a:off x="685800" y="4174236"/>
            <a:ext cx="347472" cy="347472"/>
          </a:xfrm>
          <a:prstGeom prst="ellipse">
            <a:avLst/>
          </a:prstGeom>
          <a:solidFill>
            <a:srgbClr val="0E7C86"/>
          </a:solidFill>
          <a:ln w="12700">
            <a:solidFill>
              <a:srgbClr val="0E7C86"/>
            </a:solidFill>
            <a:prstDash val="solid"/>
          </a:ln>
        </p:spPr>
      </p:sp>
      <p:sp>
        <p:nvSpPr>
          <p:cNvPr id="19" name="Text 16"/>
          <p:cNvSpPr txBox="1"/>
          <p:nvPr/>
        </p:nvSpPr>
        <p:spPr>
          <a:xfrm>
            <a:off x="685800" y="41742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143000" y="4128516"/>
            <a:ext cx="4587088" cy="438912"/>
          </a:xfrm>
          <a:prstGeom prst="rect">
            <a:avLst/>
          </a:prstGeom>
          <a:noFill/>
          <a:ln/>
        </p:spPr>
        <p:txBody>
          <a:bodyPr wrap="square" lIns="0" tIns="0" rIns="0" bIns="0" rtlCol="0" anchor="ctr"/>
          <a:lstStyle/>
          <a:p>
            <a:pPr indent="0" marL="0">
              <a:buNone/>
            </a:pPr>
            <a:r>
              <a:rPr lang="en-US" sz="1600" b="1" dirty="0">
                <a:solidFill>
                  <a:srgbClr val="0F2F3C"/>
                </a:solidFill>
                <a:latin typeface="Calibri" pitchFamily="34" charset="0"/>
                <a:ea typeface="Calibri" pitchFamily="34" charset="-122"/>
                <a:cs typeface="Calibri" pitchFamily="34" charset="-120"/>
              </a:rPr>
              <a:t>CKA correlations are descriptive</a:t>
            </a:r>
            <a:endParaRPr lang="en-US" sz="1600" dirty="0"/>
          </a:p>
        </p:txBody>
      </p:sp>
      <p:sp>
        <p:nvSpPr>
          <p:cNvPr id="21" name="Text 18"/>
          <p:cNvSpPr txBox="1"/>
          <p:nvPr/>
        </p:nvSpPr>
        <p:spPr>
          <a:xfrm>
            <a:off x="685800" y="4722876"/>
            <a:ext cx="5044288" cy="664845"/>
          </a:xfrm>
          <a:prstGeom prst="rect">
            <a:avLst/>
          </a:prstGeom>
          <a:noFill/>
          <a:ln/>
        </p:spPr>
        <p:txBody>
          <a:bodyPr wrap="square" lIns="0" tIns="0" rIns="0" bIns="0" rtlCol="0" anchor="t"/>
          <a:lstStyle/>
          <a:p>
            <a:pPr algn="l" indent="0" marL="0">
              <a:buNone/>
            </a:pPr>
            <a:r>
              <a:rPr lang="en-US" sz="1300" dirty="0">
                <a:solidFill>
                  <a:srgbClr val="12262E"/>
                </a:solidFill>
                <a:latin typeface="Calibri" pitchFamily="34" charset="0"/>
                <a:ea typeface="Calibri" pitchFamily="34" charset="-122"/>
                <a:cs typeface="Calibri" pitchFamily="34" charset="-120"/>
              </a:rPr>
              <a:t>Observations share images and backbones across methods, seeds and jitter levels, so the effective sample size is well below n = 3,000.</a:t>
            </a:r>
            <a:endParaRPr lang="en-US" sz="1300" dirty="0"/>
          </a:p>
        </p:txBody>
      </p:sp>
      <p:sp>
        <p:nvSpPr>
          <p:cNvPr id="22" name="Shape 20"/>
          <p:cNvSpPr/>
          <p:nvPr/>
        </p:nvSpPr>
        <p:spPr>
          <a:xfrm>
            <a:off x="6461608" y="4174236"/>
            <a:ext cx="347472" cy="347472"/>
          </a:xfrm>
          <a:prstGeom prst="ellipse">
            <a:avLst/>
          </a:prstGeom>
          <a:solidFill>
            <a:srgbClr val="0E7C86"/>
          </a:solidFill>
          <a:ln w="12700">
            <a:solidFill>
              <a:srgbClr val="0E7C86"/>
            </a:solidFill>
            <a:prstDash val="solid"/>
          </a:ln>
        </p:spPr>
      </p:sp>
      <p:sp>
        <p:nvSpPr>
          <p:cNvPr id="23" name="Text 21"/>
          <p:cNvSpPr txBox="1"/>
          <p:nvPr/>
        </p:nvSpPr>
        <p:spPr>
          <a:xfrm>
            <a:off x="6461608" y="417423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6918808" y="4128516"/>
            <a:ext cx="4587088" cy="438912"/>
          </a:xfrm>
          <a:prstGeom prst="rect">
            <a:avLst/>
          </a:prstGeom>
          <a:noFill/>
          <a:ln/>
        </p:spPr>
        <p:txBody>
          <a:bodyPr wrap="square" lIns="0" tIns="0" rIns="0" bIns="0" rtlCol="0" anchor="ctr"/>
          <a:lstStyle/>
          <a:p>
            <a:pPr indent="0" marL="0">
              <a:buNone/>
            </a:pPr>
            <a:r>
              <a:rPr lang="en-US" sz="1600" b="1" dirty="0">
                <a:solidFill>
                  <a:srgbClr val="0F2F3C"/>
                </a:solidFill>
                <a:latin typeface="Calibri" pitchFamily="34" charset="0"/>
                <a:ea typeface="Calibri" pitchFamily="34" charset="-122"/>
                <a:cs typeface="Calibri" pitchFamily="34" charset="-120"/>
              </a:rPr>
              <a:t>Fixed recipe</a:t>
            </a:r>
            <a:endParaRPr lang="en-US" sz="1600" dirty="0"/>
          </a:p>
        </p:txBody>
      </p:sp>
      <p:sp>
        <p:nvSpPr>
          <p:cNvPr id="25" name="Text 23"/>
          <p:cNvSpPr txBox="1"/>
          <p:nvPr/>
        </p:nvSpPr>
        <p:spPr>
          <a:xfrm>
            <a:off x="6461608" y="4722876"/>
            <a:ext cx="5044288" cy="871220"/>
          </a:xfrm>
          <a:prstGeom prst="rect">
            <a:avLst/>
          </a:prstGeom>
          <a:noFill/>
          <a:ln/>
        </p:spPr>
        <p:txBody>
          <a:bodyPr wrap="square" lIns="0" tIns="0" rIns="0" bIns="0" rtlCol="0" anchor="t"/>
          <a:lstStyle/>
          <a:p>
            <a:pPr algn="l" indent="0" marL="0">
              <a:buNone/>
            </a:pPr>
            <a:r>
              <a:rPr lang="en-US" sz="1300" dirty="0">
                <a:solidFill>
                  <a:srgbClr val="12262E"/>
                </a:solidFill>
                <a:latin typeface="Calibri" pitchFamily="34" charset="0"/>
                <a:ea typeface="Calibri" pitchFamily="34" charset="-122"/>
                <a:cs typeface="Calibri" pitchFamily="34" charset="-120"/>
              </a:rPr>
              <a:t>5 epochs, one hyperparameter set for all datasets, LoRA rank 8 with α = 16, 10 prompt tokens per insertion point. VPT is an additive perturbation at fixed positions because SAM's windowed attention prevents token prepending.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F3C"/>
        </a:solidFill>
      </p:bgPr>
    </p:bg>
    <p:spTree>
      <p:nvGrpSpPr>
        <p:cNvPr id="1" name=""/>
        <p:cNvGrpSpPr/>
        <p:nvPr/>
      </p:nvGrpSpPr>
      <p:grpSpPr>
        <a:xfrm>
          <a:off x="0" y="0"/>
          <a:ext cx="0" cy="0"/>
          <a:chOff x="0" y="0"/>
          <a:chExt cx="0" cy="0"/>
        </a:xfrm>
      </p:grpSpPr>
      <p:sp>
        <p:nvSpPr>
          <p:cNvPr id="2" name="Shape 14"/>
          <p:cNvSpPr/>
          <p:nvPr/>
        </p:nvSpPr>
        <p:spPr>
          <a:xfrm>
            <a:off x="10362895" y="1444752"/>
            <a:ext cx="1371600" cy="1371600"/>
          </a:xfrm>
          <a:prstGeom prst="roundRect">
            <a:avLst>
              <a:gd name="adj" fmla="val 6667"/>
            </a:avLst>
          </a:prstGeom>
          <a:solidFill>
            <a:srgbClr val="FFFFFF"/>
          </a:solidFill>
          <a:ln w="12700">
            <a:solidFill>
              <a:srgbClr val="FFFFFF"/>
            </a:solidFill>
            <a:prstDash val="solid"/>
          </a:ln>
        </p:spPr>
      </p:sp>
      <p:sp>
        <p:nvSpPr>
          <p:cNvPr id="3" name="Text 0"/>
          <p:cNvSpPr txBox="1"/>
          <p:nvPr/>
        </p:nvSpPr>
        <p:spPr>
          <a:xfrm>
            <a:off x="457200" y="347472"/>
            <a:ext cx="7315200" cy="256032"/>
          </a:xfrm>
          <a:prstGeom prst="rect">
            <a:avLst/>
          </a:prstGeom>
          <a:noFill/>
          <a:ln/>
        </p:spPr>
        <p:txBody>
          <a:bodyPr wrap="square" lIns="0" tIns="0" rIns="0" bIns="0" rtlCol="0" anchor="ctr"/>
          <a:lstStyle/>
          <a:p>
            <a:pPr indent="0" marL="0">
              <a:buNone/>
            </a:pPr>
            <a:r>
              <a:rPr lang="en-US" sz="1100" b="1" spc="200" kern="0" dirty="0">
                <a:solidFill>
                  <a:srgbClr val="9FD1D6"/>
                </a:solidFill>
                <a:latin typeface="Calibri" pitchFamily="34" charset="0"/>
                <a:ea typeface="Calibri" pitchFamily="34" charset="-122"/>
                <a:cs typeface="Calibri" pitchFamily="34" charset="-120"/>
              </a:rPr>
              <a:t>TAKE-HOME</a:t>
            </a:r>
            <a:endParaRPr lang="en-US" sz="1100" dirty="0"/>
          </a:p>
        </p:txBody>
      </p:sp>
      <p:sp>
        <p:nvSpPr>
          <p:cNvPr id="4" name="Text 1"/>
          <p:cNvSpPr txBox="1"/>
          <p:nvPr/>
        </p:nvSpPr>
        <p:spPr>
          <a:xfrm>
            <a:off x="457200" y="621792"/>
            <a:ext cx="11277295" cy="566928"/>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Three things to remember</a:t>
            </a:r>
            <a:endParaRPr lang="en-US" sz="2700" dirty="0"/>
          </a:p>
        </p:txBody>
      </p:sp>
      <p:sp>
        <p:nvSpPr>
          <p:cNvPr id="5" name="Shape 2"/>
          <p:cNvSpPr/>
          <p:nvPr/>
        </p:nvSpPr>
        <p:spPr>
          <a:xfrm>
            <a:off x="457200" y="1490472"/>
            <a:ext cx="548640" cy="548640"/>
          </a:xfrm>
          <a:prstGeom prst="ellipse">
            <a:avLst/>
          </a:prstGeom>
          <a:solidFill>
            <a:srgbClr val="9FD1D6"/>
          </a:solidFill>
          <a:ln w="12700">
            <a:solidFill>
              <a:srgbClr val="9FD1D6"/>
            </a:solidFill>
            <a:prstDash val="solid"/>
          </a:ln>
        </p:spPr>
      </p:sp>
      <p:sp>
        <p:nvSpPr>
          <p:cNvPr id="6" name="Text 3"/>
          <p:cNvSpPr txBox="1"/>
          <p:nvPr/>
        </p:nvSpPr>
        <p:spPr>
          <a:xfrm>
            <a:off x="457200" y="1490472"/>
            <a:ext cx="548640" cy="548640"/>
          </a:xfrm>
          <a:prstGeom prst="rect">
            <a:avLst/>
          </a:prstGeom>
          <a:noFill/>
          <a:ln/>
        </p:spPr>
        <p:txBody>
          <a:bodyPr wrap="square" lIns="0" tIns="0" rIns="0" bIns="0" rtlCol="0" anchor="ctr"/>
          <a:lstStyle/>
          <a:p>
            <a:pPr algn="ctr" indent="0" marL="0">
              <a:buNone/>
            </a:pPr>
            <a:r>
              <a:rPr lang="en-US" sz="2000" b="1" dirty="0">
                <a:solidFill>
                  <a:srgbClr val="0F2F3C"/>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234440" y="1444752"/>
            <a:ext cx="85039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Adaptation can hurt.</a:t>
            </a:r>
            <a:endParaRPr lang="en-US" sz="2000" dirty="0"/>
          </a:p>
        </p:txBody>
      </p:sp>
      <p:sp>
        <p:nvSpPr>
          <p:cNvPr id="8" name="Text 5"/>
          <p:cNvSpPr txBox="1"/>
          <p:nvPr/>
        </p:nvSpPr>
        <p:spPr>
          <a:xfrm>
            <a:off x="1234440" y="1901952"/>
            <a:ext cx="8503920" cy="490220"/>
          </a:xfrm>
          <a:prstGeom prst="rect">
            <a:avLst/>
          </a:prstGeom>
          <a:noFill/>
          <a:ln/>
        </p:spPr>
        <p:txBody>
          <a:bodyPr wrap="square" lIns="0" tIns="0" rIns="0" bIns="0" rtlCol="0" anchor="t"/>
          <a:lstStyle/>
          <a:p>
            <a:pPr algn="l" indent="0" marL="0">
              <a:buNone/>
            </a:pPr>
            <a:r>
              <a:rPr lang="en-US" sz="1400" dirty="0">
                <a:solidFill>
                  <a:srgbClr val="DDEDEF"/>
                </a:solidFill>
                <a:latin typeface="Calibri" pitchFamily="34" charset="0"/>
                <a:ea typeface="Calibri" pitchFamily="34" charset="-122"/>
                <a:cs typeface="Calibri" pitchFamily="34" charset="-120"/>
              </a:rPr>
              <a:t>LoRA and VPT beat zero-shot in-domain and fall below it on far-OOD modalities, with boundary errors in the hundreds of pixels.</a:t>
            </a:r>
            <a:endParaRPr lang="en-US" sz="1400" dirty="0"/>
          </a:p>
        </p:txBody>
      </p:sp>
      <p:sp>
        <p:nvSpPr>
          <p:cNvPr id="9" name="Shape 6"/>
          <p:cNvSpPr/>
          <p:nvPr/>
        </p:nvSpPr>
        <p:spPr>
          <a:xfrm>
            <a:off x="457200" y="2724912"/>
            <a:ext cx="548640" cy="548640"/>
          </a:xfrm>
          <a:prstGeom prst="ellipse">
            <a:avLst/>
          </a:prstGeom>
          <a:solidFill>
            <a:srgbClr val="9FD1D6"/>
          </a:solidFill>
          <a:ln w="12700">
            <a:solidFill>
              <a:srgbClr val="9FD1D6"/>
            </a:solidFill>
            <a:prstDash val="solid"/>
          </a:ln>
        </p:spPr>
      </p:sp>
      <p:sp>
        <p:nvSpPr>
          <p:cNvPr id="10" name="Text 7"/>
          <p:cNvSpPr txBox="1"/>
          <p:nvPr/>
        </p:nvSpPr>
        <p:spPr>
          <a:xfrm>
            <a:off x="457200" y="2724912"/>
            <a:ext cx="548640" cy="548640"/>
          </a:xfrm>
          <a:prstGeom prst="rect">
            <a:avLst/>
          </a:prstGeom>
          <a:noFill/>
          <a:ln/>
        </p:spPr>
        <p:txBody>
          <a:bodyPr wrap="square" lIns="0" tIns="0" rIns="0" bIns="0" rtlCol="0" anchor="ctr"/>
          <a:lstStyle/>
          <a:p>
            <a:pPr algn="ctr" indent="0" marL="0">
              <a:buNone/>
            </a:pPr>
            <a:r>
              <a:rPr lang="en-US" sz="2000" b="1" dirty="0">
                <a:solidFill>
                  <a:srgbClr val="0F2F3C"/>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1234440" y="2679192"/>
            <a:ext cx="85039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Prompt noise must be trained for.</a:t>
            </a:r>
            <a:endParaRPr lang="en-US" sz="2000" dirty="0"/>
          </a:p>
        </p:txBody>
      </p:sp>
      <p:sp>
        <p:nvSpPr>
          <p:cNvPr id="12" name="Text 9"/>
          <p:cNvSpPr txBox="1"/>
          <p:nvPr/>
        </p:nvSpPr>
        <p:spPr>
          <a:xfrm>
            <a:off x="1234440" y="3136392"/>
            <a:ext cx="8503920" cy="490220"/>
          </a:xfrm>
          <a:prstGeom prst="rect">
            <a:avLst/>
          </a:prstGeom>
          <a:noFill/>
          <a:ln/>
        </p:spPr>
        <p:txBody>
          <a:bodyPr wrap="square" lIns="0" tIns="0" rIns="0" bIns="0" rtlCol="0" anchor="t"/>
          <a:lstStyle/>
          <a:p>
            <a:pPr algn="l" indent="0" marL="0">
              <a:buNone/>
            </a:pPr>
            <a:r>
              <a:rPr lang="en-US" sz="1400" dirty="0">
                <a:solidFill>
                  <a:srgbClr val="DDEDEF"/>
                </a:solidFill>
                <a:latin typeface="Calibri" pitchFamily="34" charset="0"/>
                <a:ea typeface="Calibri" pitchFamily="34" charset="-122"/>
                <a:cs typeface="Calibri" pitchFamily="34" charset="-120"/>
              </a:rPr>
              <a:t>Random 0–100 px jitter gives the most reliable adapters; only Full FT and encoder-only LoRA end up above zero-shot overall.</a:t>
            </a:r>
            <a:endParaRPr lang="en-US" sz="1400" dirty="0"/>
          </a:p>
        </p:txBody>
      </p:sp>
      <p:sp>
        <p:nvSpPr>
          <p:cNvPr id="13" name="Shape 10"/>
          <p:cNvSpPr/>
          <p:nvPr/>
        </p:nvSpPr>
        <p:spPr>
          <a:xfrm>
            <a:off x="457200" y="3959352"/>
            <a:ext cx="548640" cy="548640"/>
          </a:xfrm>
          <a:prstGeom prst="ellipse">
            <a:avLst/>
          </a:prstGeom>
          <a:solidFill>
            <a:srgbClr val="9FD1D6"/>
          </a:solidFill>
          <a:ln w="12700">
            <a:solidFill>
              <a:srgbClr val="9FD1D6"/>
            </a:solidFill>
            <a:prstDash val="solid"/>
          </a:ln>
        </p:spPr>
      </p:sp>
      <p:sp>
        <p:nvSpPr>
          <p:cNvPr id="14" name="Text 11"/>
          <p:cNvSpPr txBox="1"/>
          <p:nvPr/>
        </p:nvSpPr>
        <p:spPr>
          <a:xfrm>
            <a:off x="457200" y="3959352"/>
            <a:ext cx="548640" cy="548640"/>
          </a:xfrm>
          <a:prstGeom prst="rect">
            <a:avLst/>
          </a:prstGeom>
          <a:noFill/>
          <a:ln/>
        </p:spPr>
        <p:txBody>
          <a:bodyPr wrap="square" lIns="0" tIns="0" rIns="0" bIns="0" rtlCol="0" anchor="ctr"/>
          <a:lstStyle/>
          <a:p>
            <a:pPr algn="ctr" indent="0" marL="0">
              <a:buNone/>
            </a:pPr>
            <a:r>
              <a:rPr lang="en-US" sz="2000" b="1" dirty="0">
                <a:solidFill>
                  <a:srgbClr val="0F2F3C"/>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1234440" y="3913632"/>
            <a:ext cx="85039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decoder is the locus.</a:t>
            </a:r>
            <a:endParaRPr lang="en-US" sz="2000" dirty="0"/>
          </a:p>
        </p:txBody>
      </p:sp>
      <p:sp>
        <p:nvSpPr>
          <p:cNvPr id="16" name="Text 13"/>
          <p:cNvSpPr txBox="1"/>
          <p:nvPr/>
        </p:nvSpPr>
        <p:spPr>
          <a:xfrm>
            <a:off x="1234440" y="4370832"/>
            <a:ext cx="8503920" cy="490220"/>
          </a:xfrm>
          <a:prstGeom prst="rect">
            <a:avLst/>
          </a:prstGeom>
          <a:noFill/>
          <a:ln/>
        </p:spPr>
        <p:txBody>
          <a:bodyPr wrap="square" lIns="0" tIns="0" rIns="0" bIns="0" rtlCol="0" anchor="t"/>
          <a:lstStyle/>
          <a:p>
            <a:pPr algn="l" indent="0" marL="0">
              <a:buNone/>
            </a:pPr>
            <a:r>
              <a:rPr lang="en-US" sz="1400" dirty="0">
                <a:solidFill>
                  <a:srgbClr val="DDEDEF"/>
                </a:solidFill>
                <a:latin typeface="Calibri" pitchFamily="34" charset="0"/>
                <a:ea typeface="Calibri" pitchFamily="34" charset="-122"/>
                <a:cs typeface="Calibri" pitchFamily="34" charset="-120"/>
              </a:rPr>
              <a:t>Preserving decoder and output representations predicts far-OOD robustness (ρ ≈ 0.73–0.76); encoder similarity does not (ρ = 0.09). Encoder-only LoRA is the CKA-informed adapter.</a:t>
            </a:r>
            <a:endParaRPr lang="en-US" sz="1400" dirty="0"/>
          </a:p>
        </p:txBody>
      </p:sp>
      <p:pic>
        <p:nvPicPr>
          <p:cNvPr id="17" name="Image 0" descr="/Users/imsounic/medsam-vpt/miccai_safer_talk/pdf_images/qr_repo.png">    </p:cNvPr>
          <p:cNvPicPr>
            <a:picLocks noChangeAspect="1"/>
          </p:cNvPicPr>
          <p:nvPr/>
        </p:nvPicPr>
        <p:blipFill>
          <a:blip r:embed="rId1"/>
          <a:stretch>
            <a:fillRect/>
          </a:stretch>
        </p:blipFill>
        <p:spPr>
          <a:xfrm>
            <a:off x="10454335" y="1536192"/>
            <a:ext cx="1188720" cy="1188720"/>
          </a:xfrm>
          <a:prstGeom prst="rect">
            <a:avLst/>
          </a:prstGeom>
        </p:spPr>
      </p:pic>
      <p:sp>
        <p:nvSpPr>
          <p:cNvPr id="18" name="Text 15"/>
          <p:cNvSpPr txBox="1"/>
          <p:nvPr/>
        </p:nvSpPr>
        <p:spPr>
          <a:xfrm>
            <a:off x="9174175" y="2907792"/>
            <a:ext cx="2560320" cy="502920"/>
          </a:xfrm>
          <a:prstGeom prst="rect">
            <a:avLst/>
          </a:prstGeom>
          <a:noFill/>
          <a:ln/>
        </p:spPr>
        <p:txBody>
          <a:bodyPr wrap="square" lIns="0" tIns="0" rIns="0" bIns="0" rtlCol="0" anchor="ctr"/>
          <a:lstStyle/>
          <a:p>
            <a:pPr algn="r" indent="0" marL="0">
              <a:buNone/>
            </a:pPr>
            <a:r>
              <a:rPr lang="en-US" sz="1000" dirty="0">
                <a:solidFill>
                  <a:srgbClr val="9FD1D6"/>
                </a:solidFill>
                <a:latin typeface="Calibri" pitchFamily="34" charset="0"/>
                <a:ea typeface="Calibri" pitchFamily="34" charset="-122"/>
                <a:cs typeface="Calibri" pitchFamily="34" charset="-120"/>
              </a:rPr>
              <a:t>Code, configs, checkpoints</a:t>
            </a:r>
            <a:endParaRPr lang="en-US" sz="1000" dirty="0"/>
          </a:p>
          <a:p>
            <a:pPr algn="r" indent="0" marL="0">
              <a:buNone/>
            </a:pPr>
            <a:r>
              <a:rPr lang="en-US" sz="1000" dirty="0">
                <a:solidFill>
                  <a:srgbClr val="9FD1D6"/>
                </a:solidFill>
                <a:latin typeface="Calibri" pitchFamily="34" charset="0"/>
                <a:ea typeface="Calibri" pitchFamily="34" charset="-122"/>
                <a:cs typeface="Calibri" pitchFamily="34" charset="-120"/>
              </a:rPr>
              <a:t>github.com/ImSounic/medsam-vpt</a:t>
            </a:r>
            <a:endParaRPr lang="en-US" sz="1000" dirty="0"/>
          </a:p>
        </p:txBody>
      </p:sp>
      <p:sp>
        <p:nvSpPr>
          <p:cNvPr id="19" name="Text 16"/>
          <p:cNvSpPr txBox="1"/>
          <p:nvPr/>
        </p:nvSpPr>
        <p:spPr>
          <a:xfrm>
            <a:off x="457200" y="5989320"/>
            <a:ext cx="82296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Thank you. Questions?  ·  Poster session 12:30–13:30 today</a:t>
            </a:r>
            <a:endParaRPr lang="en-US" sz="1600" dirty="0"/>
          </a:p>
        </p:txBody>
      </p:sp>
      <p:sp>
        <p:nvSpPr>
          <p:cNvPr id="20" name="Text 17"/>
          <p:cNvSpPr txBox="1"/>
          <p:nvPr/>
        </p:nvSpPr>
        <p:spPr>
          <a:xfrm>
            <a:off x="457200" y="6355080"/>
            <a:ext cx="11277295" cy="274320"/>
          </a:xfrm>
          <a:prstGeom prst="rect">
            <a:avLst/>
          </a:prstGeom>
          <a:noFill/>
          <a:ln/>
        </p:spPr>
        <p:txBody>
          <a:bodyPr wrap="square" lIns="0" tIns="0" rIns="0" bIns="0" rtlCol="0" anchor="ctr"/>
          <a:lstStyle/>
          <a:p>
            <a:pPr indent="0" marL="0">
              <a:buNone/>
            </a:pPr>
            <a:r>
              <a:rPr lang="en-US" sz="1100" dirty="0">
                <a:solidFill>
                  <a:srgbClr val="9FD1D6"/>
                </a:solidFill>
                <a:latin typeface="Calibri" pitchFamily="34" charset="0"/>
                <a:ea typeface="Calibri" pitchFamily="34" charset="-122"/>
                <a:cs typeface="Calibri" pitchFamily="34" charset="-120"/>
              </a:rPr>
              <a:t>Marko Haralović · Sounic Akkaraju · Carlo Baretta · Vasil Zapryanov · Alexia Briassouli   |   University of Twente · University of Zagreb (FER)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Adaptation Hurts — MICCAI 2026 SAFER</dc:title>
  <dc:subject>PptxGenJS Presentation</dc:subject>
  <dc:creator>Haralović, Akkaraju, Baretta, Zapryanov, Briassouli</dc:creator>
  <cp:lastModifiedBy>Haralović, Akkaraju, Baretta, Zapryanov, Briassouli</cp:lastModifiedBy>
  <cp:revision>1</cp:revision>
  <dcterms:created xsi:type="dcterms:W3CDTF">2026-09-22T09:46:14Z</dcterms:created>
  <dcterms:modified xsi:type="dcterms:W3CDTF">2026-09-22T09:46:14Z</dcterms:modified>
</cp:coreProperties>
</file>