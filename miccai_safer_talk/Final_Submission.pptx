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"/>
          <p:cNvSpPr/>
          <p:nvPr/>
        </p:nvSpPr>
        <p:spPr>
          <a:xfrm>
            <a:off x="731520" y="5806440"/>
            <a:ext cx="9268968" cy="6332728"/>
          </a:xfrm>
          <a:prstGeom prst="roundRect">
            <a:avLst>
              <a:gd name="adj" fmla="val 2599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3" name="Shape 30"/>
          <p:cNvSpPr/>
          <p:nvPr/>
        </p:nvSpPr>
        <p:spPr>
          <a:xfrm>
            <a:off x="731520" y="12459208"/>
            <a:ext cx="9268968" cy="10817860"/>
          </a:xfrm>
          <a:prstGeom prst="roundRect">
            <a:avLst>
              <a:gd name="adj" fmla="val 177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4" name="Shape 33"/>
          <p:cNvSpPr/>
          <p:nvPr/>
        </p:nvSpPr>
        <p:spPr>
          <a:xfrm>
            <a:off x="731520" y="23597108"/>
            <a:ext cx="9268968" cy="4761420"/>
          </a:xfrm>
          <a:prstGeom prst="roundRect">
            <a:avLst>
              <a:gd name="adj" fmla="val 3457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5" name="Shape 40"/>
          <p:cNvSpPr/>
          <p:nvPr/>
        </p:nvSpPr>
        <p:spPr>
          <a:xfrm>
            <a:off x="731520" y="28678568"/>
            <a:ext cx="9268968" cy="12550466"/>
          </a:xfrm>
          <a:prstGeom prst="roundRect">
            <a:avLst>
              <a:gd name="adj" fmla="val 177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6" name="Shape 47"/>
          <p:cNvSpPr/>
          <p:nvPr/>
        </p:nvSpPr>
        <p:spPr>
          <a:xfrm>
            <a:off x="10503408" y="5806440"/>
            <a:ext cx="9268968" cy="9437116"/>
          </a:xfrm>
          <a:prstGeom prst="roundRect">
            <a:avLst>
              <a:gd name="adj" fmla="val 177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7" name="Shape 52"/>
          <p:cNvSpPr/>
          <p:nvPr/>
        </p:nvSpPr>
        <p:spPr>
          <a:xfrm>
            <a:off x="10503408" y="15563596"/>
            <a:ext cx="9268968" cy="8079232"/>
          </a:xfrm>
          <a:prstGeom prst="roundRect">
            <a:avLst>
              <a:gd name="adj" fmla="val 2037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8" name="Shape 62"/>
          <p:cNvSpPr/>
          <p:nvPr/>
        </p:nvSpPr>
        <p:spPr>
          <a:xfrm>
            <a:off x="10503408" y="23962868"/>
            <a:ext cx="9268968" cy="17642539"/>
          </a:xfrm>
          <a:prstGeom prst="roundRect">
            <a:avLst>
              <a:gd name="adj" fmla="val 177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9" name="Shape 74"/>
          <p:cNvSpPr/>
          <p:nvPr/>
        </p:nvSpPr>
        <p:spPr>
          <a:xfrm>
            <a:off x="20275296" y="5806440"/>
            <a:ext cx="9268968" cy="17554096"/>
          </a:xfrm>
          <a:prstGeom prst="roundRect">
            <a:avLst>
              <a:gd name="adj" fmla="val 1776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0" name="Shape 88"/>
          <p:cNvSpPr/>
          <p:nvPr/>
        </p:nvSpPr>
        <p:spPr>
          <a:xfrm>
            <a:off x="20275296" y="23680576"/>
            <a:ext cx="9268968" cy="7835392"/>
          </a:xfrm>
          <a:prstGeom prst="roundRect">
            <a:avLst>
              <a:gd name="adj" fmla="val 2101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1" name="Shape 96"/>
          <p:cNvSpPr/>
          <p:nvPr/>
        </p:nvSpPr>
        <p:spPr>
          <a:xfrm>
            <a:off x="20275296" y="31836008"/>
            <a:ext cx="9268968" cy="3532632"/>
          </a:xfrm>
          <a:prstGeom prst="roundRect">
            <a:avLst>
              <a:gd name="adj" fmla="val 4659"/>
            </a:avLst>
          </a:prstGeom>
          <a:solidFill>
            <a:srgbClr val="F2F6F7"/>
          </a:solidFill>
          <a:ln w="12700">
            <a:solidFill>
              <a:srgbClr val="F2F6F7"/>
            </a:solidFill>
            <a:prstDash val="solid"/>
          </a:ln>
        </p:spPr>
      </p:sp>
      <p:sp>
        <p:nvSpPr>
          <p:cNvPr id="12" name="Shape 104"/>
          <p:cNvSpPr/>
          <p:nvPr/>
        </p:nvSpPr>
        <p:spPr>
          <a:xfrm>
            <a:off x="20275296" y="35688680"/>
            <a:ext cx="9268968" cy="5743448"/>
          </a:xfrm>
          <a:prstGeom prst="roundRect">
            <a:avLst>
              <a:gd name="adj" fmla="val 2866"/>
            </a:avLst>
          </a:prstGeom>
          <a:solidFill>
            <a:srgbClr val="0F2F3C"/>
          </a:solidFill>
          <a:ln w="12700">
            <a:solidFill>
              <a:srgbClr val="0F2F3C"/>
            </a:solidFill>
            <a:prstDash val="solid"/>
          </a:ln>
        </p:spPr>
      </p:sp>
      <p:sp>
        <p:nvSpPr>
          <p:cNvPr id="13" name="Shape 0"/>
          <p:cNvSpPr/>
          <p:nvPr/>
        </p:nvSpPr>
        <p:spPr>
          <a:xfrm>
            <a:off x="0" y="0"/>
            <a:ext cx="30275784" cy="5303520"/>
          </a:xfrm>
          <a:prstGeom prst="rect">
            <a:avLst/>
          </a:prstGeom>
          <a:solidFill>
            <a:srgbClr val="0F2F3C"/>
          </a:solidFill>
          <a:ln w="12700">
            <a:solidFill>
              <a:srgbClr val="0F2F3C"/>
            </a:solidFill>
            <a:prstDash val="solid"/>
          </a:ln>
        </p:spPr>
      </p:sp>
      <p:sp>
        <p:nvSpPr>
          <p:cNvPr id="14" name="Shape 1"/>
          <p:cNvSpPr/>
          <p:nvPr/>
        </p:nvSpPr>
        <p:spPr>
          <a:xfrm>
            <a:off x="21588984" y="777240"/>
            <a:ext cx="44805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0" descr="/Users/imsounic/medsam-vpt/miccai_safer_talk/logos/fer_zagr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9024" y="1002000"/>
            <a:ext cx="3840480" cy="708720"/>
          </a:xfrm>
          <a:prstGeom prst="rect">
            <a:avLst/>
          </a:prstGeom>
        </p:spPr>
      </p:pic>
      <p:pic>
        <p:nvPicPr>
          <p:cNvPr id="16" name="Image 1" descr="/Users/imsounic/medsam-vpt/miccai_safer_talk/logos/eth_zuri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9024" y="1992444"/>
            <a:ext cx="3840480" cy="678551"/>
          </a:xfrm>
          <a:prstGeom prst="rect">
            <a:avLst/>
          </a:prstGeom>
        </p:spPr>
      </p:pic>
      <p:pic>
        <p:nvPicPr>
          <p:cNvPr id="17" name="Image 2" descr="/Users/imsounic/medsam-vpt/miccai_safer_talk/logos/utwe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9024" y="3149853"/>
            <a:ext cx="3840480" cy="314455"/>
          </a:xfrm>
          <a:prstGeom prst="rect">
            <a:avLst/>
          </a:prstGeom>
        </p:spPr>
      </p:pic>
      <p:sp>
        <p:nvSpPr>
          <p:cNvPr id="18" name="Text 2"/>
          <p:cNvSpPr txBox="1"/>
          <p:nvPr/>
        </p:nvSpPr>
        <p:spPr>
          <a:xfrm>
            <a:off x="731520" y="640080"/>
            <a:ext cx="20491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Adaptation Hurts</a:t>
            </a:r>
            <a:endParaRPr lang="en-US" sz="7800" dirty="0"/>
          </a:p>
        </p:txBody>
      </p:sp>
      <p:sp>
        <p:nvSpPr>
          <p:cNvPr id="19" name="Text 3"/>
          <p:cNvSpPr txBox="1"/>
          <p:nvPr/>
        </p:nvSpPr>
        <p:spPr>
          <a:xfrm>
            <a:off x="731520" y="2057400"/>
            <a:ext cx="20491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Representational Drift to OOD Failures in MedSAM Fine-Tuning</a:t>
            </a:r>
            <a:endParaRPr lang="en-US" sz="4000" dirty="0"/>
          </a:p>
        </p:txBody>
      </p:sp>
      <p:sp>
        <p:nvSpPr>
          <p:cNvPr id="20" name="Text 4"/>
          <p:cNvSpPr txBox="1"/>
          <p:nvPr/>
        </p:nvSpPr>
        <p:spPr>
          <a:xfrm>
            <a:off x="731520" y="3246120"/>
            <a:ext cx="20491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 Haralović</a:t>
            </a:r>
            <a:pPr indent="0" marL="0">
              <a:buNone/>
            </a:pPr>
            <a:r>
              <a:rPr lang="en-US" sz="3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1,2,3</a:t>
            </a:r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Sounic Akkaraju</a:t>
            </a:r>
            <a:pPr indent="0" marL="0">
              <a:buNone/>
            </a:pPr>
            <a:r>
              <a:rPr lang="en-US" sz="3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 Baretta</a:t>
            </a:r>
            <a:pPr indent="0" marL="0">
              <a:buNone/>
            </a:pPr>
            <a:r>
              <a:rPr lang="en-US" sz="3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Vasil Zapryanov</a:t>
            </a:r>
            <a:pPr indent="0" marL="0">
              <a:buNone/>
            </a:pPr>
            <a:r>
              <a:rPr lang="en-US" sz="3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Alexia Briassouli</a:t>
            </a:r>
            <a:pPr indent="0" marL="0">
              <a:buNone/>
            </a:pPr>
            <a:r>
              <a:rPr lang="en-US" sz="34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5"/>
          <p:cNvSpPr txBox="1"/>
          <p:nvPr/>
        </p:nvSpPr>
        <p:spPr>
          <a:xfrm>
            <a:off x="731520" y="3931920"/>
            <a:ext cx="20491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University of Zagreb, Faculty of Electrical Engineering and Computing   ·   2 ETH Zurich   ·   3 University of Twente, Enschede</a:t>
            </a:r>
            <a:endParaRPr lang="en-US" sz="2600" dirty="0"/>
          </a:p>
        </p:txBody>
      </p:sp>
      <p:sp>
        <p:nvSpPr>
          <p:cNvPr id="22" name="Text 6"/>
          <p:cNvSpPr txBox="1"/>
          <p:nvPr/>
        </p:nvSpPr>
        <p:spPr>
          <a:xfrm>
            <a:off x="731520" y="4572000"/>
            <a:ext cx="20491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 2026 · SAFER Workshop: Stable Adaptation and Faithful Evaluation of Reasoning in Medical Foundation Models · Strasbourg, 27 September 2026</a:t>
            </a:r>
            <a:endParaRPr lang="en-US" sz="2600" dirty="0"/>
          </a:p>
        </p:txBody>
      </p:sp>
      <p:sp>
        <p:nvSpPr>
          <p:cNvPr id="23" name="Shape 7"/>
          <p:cNvSpPr/>
          <p:nvPr/>
        </p:nvSpPr>
        <p:spPr>
          <a:xfrm>
            <a:off x="26435304" y="777240"/>
            <a:ext cx="310896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Users/imsounic/medsam-vpt/miccai_safer_talk/pdf_images/qr_re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8184" y="960120"/>
            <a:ext cx="2743200" cy="2743200"/>
          </a:xfrm>
          <a:prstGeom prst="rect">
            <a:avLst/>
          </a:prstGeom>
        </p:spPr>
      </p:pic>
      <p:sp>
        <p:nvSpPr>
          <p:cNvPr id="25" name="Text 8"/>
          <p:cNvSpPr txBox="1"/>
          <p:nvPr/>
        </p:nvSpPr>
        <p:spPr>
          <a:xfrm>
            <a:off x="25886664" y="3977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configs, checkpoints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github.com/ImSounic/medsam-vpt</a:t>
            </a:r>
            <a:endParaRPr lang="en-US" sz="2200" dirty="0"/>
          </a:p>
        </p:txBody>
      </p:sp>
      <p:sp>
        <p:nvSpPr>
          <p:cNvPr id="26" name="Text 9"/>
          <p:cNvSpPr txBox="1"/>
          <p:nvPr/>
        </p:nvSpPr>
        <p:spPr>
          <a:xfrm>
            <a:off x="1005840" y="6080760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challenges, studied separately</a:t>
            </a:r>
            <a:endParaRPr lang="en-US" sz="3400" dirty="0"/>
          </a:p>
        </p:txBody>
      </p:sp>
      <p:sp>
        <p:nvSpPr>
          <p:cNvPr id="27" name="Text 10"/>
          <p:cNvSpPr txBox="1"/>
          <p:nvPr/>
        </p:nvSpPr>
        <p:spPr>
          <a:xfrm>
            <a:off x="1005840" y="6745224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28" name="Text 11"/>
          <p:cNvSpPr txBox="1"/>
          <p:nvPr/>
        </p:nvSpPr>
        <p:spPr>
          <a:xfrm>
            <a:off x="1355090" y="6745224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sensitivity. 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needs a bounding box. Clinical boxes are loose or inconsistent, and Dice follows box quality.</a:t>
            </a:r>
            <a:endParaRPr lang="en-US" sz="2500" dirty="0"/>
          </a:p>
        </p:txBody>
      </p:sp>
      <p:sp>
        <p:nvSpPr>
          <p:cNvPr id="29" name="Text 12"/>
          <p:cNvSpPr txBox="1"/>
          <p:nvPr/>
        </p:nvSpPr>
        <p:spPr>
          <a:xfrm>
            <a:off x="1005840" y="8119872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30" name="Text 13"/>
          <p:cNvSpPr txBox="1"/>
          <p:nvPr/>
        </p:nvSpPr>
        <p:spPr>
          <a:xfrm>
            <a:off x="1355090" y="8119872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shift. 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falls when scanner, organ or modality changes.</a:t>
            </a:r>
            <a:endParaRPr lang="en-US" sz="2500" dirty="0"/>
          </a:p>
        </p:txBody>
      </p:sp>
      <p:sp>
        <p:nvSpPr>
          <p:cNvPr id="31" name="Text 14"/>
          <p:cNvSpPr txBox="1"/>
          <p:nvPr/>
        </p:nvSpPr>
        <p:spPr>
          <a:xfrm>
            <a:off x="1005840" y="908812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32" name="Text 15"/>
          <p:cNvSpPr txBox="1"/>
          <p:nvPr/>
        </p:nvSpPr>
        <p:spPr>
          <a:xfrm>
            <a:off x="1355090" y="9088120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cost. 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helps in-domain but is expensive; LoRA and VPT are cheap yet sensitive to data and prompt quality.</a:t>
            </a:r>
            <a:endParaRPr lang="en-US" sz="2500" dirty="0"/>
          </a:p>
        </p:txBody>
      </p:sp>
      <p:sp>
        <p:nvSpPr>
          <p:cNvPr id="33" name="Text 16"/>
          <p:cNvSpPr txBox="1"/>
          <p:nvPr/>
        </p:nvSpPr>
        <p:spPr>
          <a:xfrm>
            <a:off x="1005840" y="10572496"/>
            <a:ext cx="8720328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</a:t>
            </a:r>
            <a:pPr algn="l"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adaptation strategy × prompt noise × domain shift jointly, and links the outcome to which internal representations drift (linear CKA vs zero-shot MedSAM).</a:t>
            </a:r>
            <a:endParaRPr lang="en-US" sz="2500" dirty="0"/>
          </a:p>
        </p:txBody>
      </p:sp>
      <p:sp>
        <p:nvSpPr>
          <p:cNvPr id="34" name="Text 18"/>
          <p:cNvSpPr txBox="1"/>
          <p:nvPr/>
        </p:nvSpPr>
        <p:spPr>
          <a:xfrm>
            <a:off x="1005840" y="12733528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adapters and the drift ladder</a:t>
            </a:r>
            <a:endParaRPr lang="en-US" sz="3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3397992"/>
          <a:ext cx="87203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4148328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MedSAM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(frozen baseline)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decoder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VPT-shallow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tokens at input + decoder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VPT-deep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tokens per block + decoder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(r = 8, α = 16)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+ decoder adapters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 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adapters, decoder frozen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encoder + mask decoder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36" name="Text 19"/>
          <p:cNvSpPr txBox="1"/>
          <p:nvPr/>
        </p:nvSpPr>
        <p:spPr>
          <a:xfrm>
            <a:off x="1005840" y="17520412"/>
            <a:ext cx="8720328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</a:t>
            </a:r>
            <a:pPr algn="l"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ISIC 2018 dermoscopy (2,594 images, 80/10/10), 5 epochs, AdamW, Dice + CE, prompt encoder frozen, 3 seeds. Full FT: LR 1e-5, batch 1. PEFT: LR 1e-4, batch 4.</a:t>
            </a:r>
            <a:endParaRPr lang="en-US" sz="2500" dirty="0"/>
          </a:p>
        </p:txBody>
      </p:sp>
      <p:sp>
        <p:nvSpPr>
          <p:cNvPr id="37" name="Text 20"/>
          <p:cNvSpPr txBox="1"/>
          <p:nvPr/>
        </p:nvSpPr>
        <p:spPr>
          <a:xfrm>
            <a:off x="1005840" y="19041364"/>
            <a:ext cx="872032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along a drift ladder</a:t>
            </a:r>
            <a:endParaRPr lang="en-US" sz="2500" dirty="0"/>
          </a:p>
        </p:txBody>
      </p:sp>
      <p:sp>
        <p:nvSpPr>
          <p:cNvPr id="38" name="Shape 21"/>
          <p:cNvSpPr/>
          <p:nvPr/>
        </p:nvSpPr>
        <p:spPr>
          <a:xfrm>
            <a:off x="1005840" y="19612356"/>
            <a:ext cx="2008632" cy="1417320"/>
          </a:xfrm>
          <a:prstGeom prst="roundRect">
            <a:avLst>
              <a:gd name="adj" fmla="val 7742"/>
            </a:avLst>
          </a:prstGeom>
          <a:solidFill>
            <a:srgbClr val="DDEDEF"/>
          </a:solidFill>
          <a:ln w="12700">
            <a:solidFill>
              <a:srgbClr val="DDEDEF"/>
            </a:solidFill>
            <a:prstDash val="solid"/>
          </a:ln>
        </p:spPr>
      </p:sp>
      <p:sp>
        <p:nvSpPr>
          <p:cNvPr id="39" name="Text 22"/>
          <p:cNvSpPr txBox="1"/>
          <p:nvPr/>
        </p:nvSpPr>
        <p:spPr>
          <a:xfrm>
            <a:off x="1097280" y="19685508"/>
            <a:ext cx="18257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2018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test images</a:t>
            </a:r>
            <a:endParaRPr lang="en-US" sz="2200" dirty="0"/>
          </a:p>
        </p:txBody>
      </p:sp>
      <p:sp>
        <p:nvSpPr>
          <p:cNvPr id="40" name="Shape 23"/>
          <p:cNvSpPr/>
          <p:nvPr/>
        </p:nvSpPr>
        <p:spPr>
          <a:xfrm>
            <a:off x="3243072" y="19612356"/>
            <a:ext cx="2008632" cy="1417320"/>
          </a:xfrm>
          <a:prstGeom prst="roundRect">
            <a:avLst>
              <a:gd name="adj" fmla="val 7742"/>
            </a:avLst>
          </a:prstGeom>
          <a:solidFill>
            <a:srgbClr val="DDEDEF"/>
          </a:solidFill>
          <a:ln w="12700">
            <a:solidFill>
              <a:srgbClr val="DDEDEF"/>
            </a:solidFill>
            <a:prstDash val="solid"/>
          </a:ln>
        </p:spPr>
      </p:sp>
      <p:sp>
        <p:nvSpPr>
          <p:cNvPr id="41" name="Text 24"/>
          <p:cNvSpPr txBox="1"/>
          <p:nvPr/>
        </p:nvSpPr>
        <p:spPr>
          <a:xfrm>
            <a:off x="3334512" y="19685508"/>
            <a:ext cx="18257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PH²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close-OOD dermoscopy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images</a:t>
            </a:r>
            <a:endParaRPr lang="en-US" sz="2200" dirty="0"/>
          </a:p>
        </p:txBody>
      </p:sp>
      <p:sp>
        <p:nvSpPr>
          <p:cNvPr id="42" name="Shape 25"/>
          <p:cNvSpPr/>
          <p:nvPr/>
        </p:nvSpPr>
        <p:spPr>
          <a:xfrm>
            <a:off x="5480304" y="19612356"/>
            <a:ext cx="2008632" cy="1417320"/>
          </a:xfrm>
          <a:prstGeom prst="roundRect">
            <a:avLst>
              <a:gd name="adj" fmla="val 7742"/>
            </a:avLst>
          </a:prstGeom>
          <a:solidFill>
            <a:srgbClr val="FBE4DE"/>
          </a:solidFill>
          <a:ln w="12700">
            <a:solidFill>
              <a:srgbClr val="FBE4DE"/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5571744" y="19685508"/>
            <a:ext cx="18257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far-OOD ultrasound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images</a:t>
            </a:r>
            <a:endParaRPr lang="en-US" sz="2200" dirty="0"/>
          </a:p>
        </p:txBody>
      </p:sp>
      <p:sp>
        <p:nvSpPr>
          <p:cNvPr id="44" name="Shape 27"/>
          <p:cNvSpPr/>
          <p:nvPr/>
        </p:nvSpPr>
        <p:spPr>
          <a:xfrm>
            <a:off x="7717536" y="19612356"/>
            <a:ext cx="2008632" cy="1417320"/>
          </a:xfrm>
          <a:prstGeom prst="roundRect">
            <a:avLst>
              <a:gd name="adj" fmla="val 7742"/>
            </a:avLst>
          </a:prstGeom>
          <a:solidFill>
            <a:srgbClr val="FBE4DE"/>
          </a:solidFill>
          <a:ln w="12700">
            <a:solidFill>
              <a:srgbClr val="FBE4DE"/>
            </a:solidFill>
            <a:prstDash val="solid"/>
          </a:ln>
        </p:spPr>
      </p:sp>
      <p:sp>
        <p:nvSpPr>
          <p:cNvPr id="45" name="Text 28"/>
          <p:cNvSpPr txBox="1"/>
          <p:nvPr/>
        </p:nvSpPr>
        <p:spPr>
          <a:xfrm>
            <a:off x="7808976" y="19685508"/>
            <a:ext cx="18257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CBIS-DDSM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far-OOD mammography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 images</a:t>
            </a:r>
            <a:endParaRPr lang="en-US" sz="2200" dirty="0"/>
          </a:p>
        </p:txBody>
      </p:sp>
      <p:sp>
        <p:nvSpPr>
          <p:cNvPr id="46" name="Text 29"/>
          <p:cNvSpPr txBox="1"/>
          <p:nvPr/>
        </p:nvSpPr>
        <p:spPr>
          <a:xfrm>
            <a:off x="1005840" y="21303996"/>
            <a:ext cx="8720328" cy="169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protocol. </a:t>
            </a:r>
            <a:pPr algn="l"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clean boxes, fixed 20 px, or random 0–100 px jitter. Evaluate at 0 / 20 / 50 / 100 / 200 px on 1024² images. 200 px = +280% box area on average, +1,328% on small CBIS-DDSM lesions.</a:t>
            </a:r>
            <a:endParaRPr lang="en-US" sz="2500" dirty="0"/>
          </a:p>
        </p:txBody>
      </p:sp>
      <p:sp>
        <p:nvSpPr>
          <p:cNvPr id="47" name="Text 31"/>
          <p:cNvSpPr txBox="1"/>
          <p:nvPr/>
        </p:nvSpPr>
        <p:spPr>
          <a:xfrm>
            <a:off x="1005840" y="23871428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jitter looks like</a:t>
            </a:r>
            <a:endParaRPr lang="en-US" sz="3400" dirty="0"/>
          </a:p>
        </p:txBody>
      </p:sp>
      <p:pic>
        <p:nvPicPr>
          <p:cNvPr id="48" name="Image 4" descr="/Users/imsounic/medsam-vpt/figures/paper_visuals/prompt_perturbation_exampl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4535892"/>
            <a:ext cx="8720328" cy="247542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1005840" y="27084464"/>
            <a:ext cx="872032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Tight box (white, dashed), perturbed prompt (red), predicted mask (cyan). Equal pixel jitter is a far larger relative change on small far-OOD lesions.</a:t>
            </a:r>
            <a:endParaRPr lang="en-US" sz="1900" dirty="0"/>
          </a:p>
        </p:txBody>
      </p:sp>
      <p:sp>
        <p:nvSpPr>
          <p:cNvPr id="50" name="Text 34"/>
          <p:cNvSpPr txBox="1"/>
          <p:nvPr/>
        </p:nvSpPr>
        <p:spPr>
          <a:xfrm>
            <a:off x="1005840" y="28952888"/>
            <a:ext cx="8720328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Clean-box adapters are prompt-brittle</a:t>
            </a:r>
            <a:endParaRPr lang="en-US" sz="3400" dirty="0"/>
          </a:p>
        </p:txBody>
      </p:sp>
      <p:pic>
        <p:nvPicPr>
          <p:cNvPr id="51" name="Image 5" descr="/Users/imsounic/medsam-vpt/miccai_safer_talk/pdf_images/p06_0_2460x17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0135512"/>
            <a:ext cx="8720328" cy="6355914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1005840" y="36564578"/>
            <a:ext cx="8720328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 Dice vs evaluation jitter, averaged over the three training-jitter regimes.</a:t>
            </a:r>
            <a:endParaRPr lang="en-US" sz="1900" dirty="0"/>
          </a:p>
        </p:txBody>
      </p:sp>
      <p:sp>
        <p:nvSpPr>
          <p:cNvPr id="53" name="Text 36"/>
          <p:cNvSpPr txBox="1"/>
          <p:nvPr/>
        </p:nvSpPr>
        <p:spPr>
          <a:xfrm>
            <a:off x="1005840" y="37392618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54" name="Text 37"/>
          <p:cNvSpPr txBox="1"/>
          <p:nvPr/>
        </p:nvSpPr>
        <p:spPr>
          <a:xfrm>
            <a:off x="1355090" y="37392618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MedSAM </a:t>
            </a:r>
            <a:pPr indent="0" marL="0">
              <a:buNone/>
            </a:pPr>
            <a:r>
              <a:rPr lang="en-US" sz="2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20 px of slack (CBIS-DDSM 0.692 → 0.748) and is the best model on both far-OOD sets once boxes are 100 px off (CBIS 0.391 vs ≤ 0.367 for any adapter).</a:t>
            </a:r>
            <a:endParaRPr lang="en-US" sz="2500" dirty="0"/>
          </a:p>
        </p:txBody>
      </p:sp>
      <p:sp>
        <p:nvSpPr>
          <p:cNvPr id="55" name="Text 38"/>
          <p:cNvSpPr txBox="1"/>
          <p:nvPr/>
        </p:nvSpPr>
        <p:spPr>
          <a:xfrm>
            <a:off x="1005840" y="39173666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56" name="Text 39"/>
          <p:cNvSpPr txBox="1"/>
          <p:nvPr/>
        </p:nvSpPr>
        <p:spPr>
          <a:xfrm>
            <a:off x="1355090" y="39173666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was pretrained on imperfect boxes; clean-box adapters </a:t>
            </a:r>
            <a:pPr indent="0" marL="0">
              <a:buNone/>
            </a:pPr>
            <a:r>
              <a:rPr lang="en-US" sz="25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 that tolerance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Even encoder-only LoRA becomes the most jitter-sensitive model in-domain (ISIC, 200 px: 0.645 vs zero-shot 0.767).</a:t>
            </a:r>
            <a:endParaRPr lang="en-US" sz="2500" dirty="0"/>
          </a:p>
        </p:txBody>
      </p:sp>
      <p:sp>
        <p:nvSpPr>
          <p:cNvPr id="57" name="Text 41"/>
          <p:cNvSpPr txBox="1"/>
          <p:nvPr/>
        </p:nvSpPr>
        <p:spPr>
          <a:xfrm>
            <a:off x="10777728" y="6080760"/>
            <a:ext cx="8720328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Adaptation often hurts far-OOD</a:t>
            </a:r>
            <a:endParaRPr lang="en-US" sz="3400" dirty="0"/>
          </a:p>
        </p:txBody>
      </p:sp>
      <p:sp>
        <p:nvSpPr>
          <p:cNvPr id="58" name="Text 42"/>
          <p:cNvSpPr txBox="1"/>
          <p:nvPr/>
        </p:nvSpPr>
        <p:spPr>
          <a:xfrm>
            <a:off x="10777728" y="7263384"/>
            <a:ext cx="8720328" cy="38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with clean boxes, models trained with clean boxes, mean of 3 seeds</a:t>
            </a:r>
            <a:endParaRPr lang="en-US" sz="1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77728" y="7736840"/>
          <a:ext cx="87203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94282"/>
                <a:gridCol w="1494282"/>
                <a:gridCol w="1494282"/>
                <a:gridCol w="1494282"/>
              </a:tblGrid>
              <a:tr h="736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ISIC (ID)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PH² (close)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 (far)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CBIS (far)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VPT-shallow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VPT-deep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 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60" name="Text 43"/>
          <p:cNvSpPr txBox="1"/>
          <p:nvPr/>
        </p:nvSpPr>
        <p:spPr>
          <a:xfrm>
            <a:off x="10777728" y="1181354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61" name="Text 44"/>
          <p:cNvSpPr txBox="1"/>
          <p:nvPr/>
        </p:nvSpPr>
        <p:spPr>
          <a:xfrm>
            <a:off x="11126978" y="11813540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adapter beats zero-shot in-domain. LoRA and both VPT variants </a:t>
            </a:r>
            <a:pPr indent="0" marL="0">
              <a:buNone/>
            </a:pPr>
            <a:r>
              <a:rPr lang="en-US" sz="25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below zero-shot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ultrasound and mammography (red).</a:t>
            </a:r>
            <a:endParaRPr lang="en-US" sz="2500" dirty="0"/>
          </a:p>
        </p:txBody>
      </p:sp>
      <p:sp>
        <p:nvSpPr>
          <p:cNvPr id="62" name="Text 45"/>
          <p:cNvSpPr txBox="1"/>
          <p:nvPr/>
        </p:nvSpPr>
        <p:spPr>
          <a:xfrm>
            <a:off x="10777728" y="13188188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63" name="Text 46"/>
          <p:cNvSpPr txBox="1"/>
          <p:nvPr/>
        </p:nvSpPr>
        <p:spPr>
          <a:xfrm>
            <a:off x="11126978" y="13188188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FT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the best overall trade-off. </a:t>
            </a:r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LoRA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strongest parameter-efficient method: the same adapter as LoRA with the decoder left alone, +0.28 Dice on mammography.</a:t>
            </a:r>
            <a:endParaRPr lang="en-US" sz="2500" dirty="0"/>
          </a:p>
        </p:txBody>
      </p:sp>
      <p:sp>
        <p:nvSpPr>
          <p:cNvPr id="64" name="Text 48"/>
          <p:cNvSpPr txBox="1"/>
          <p:nvPr/>
        </p:nvSpPr>
        <p:spPr>
          <a:xfrm>
            <a:off x="10777728" y="15837916"/>
            <a:ext cx="8720328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error: collapse, not overlap loss</a:t>
            </a:r>
            <a:endParaRPr lang="en-US" sz="3400" dirty="0"/>
          </a:p>
        </p:txBody>
      </p:sp>
      <p:sp>
        <p:nvSpPr>
          <p:cNvPr id="65" name="Text 49"/>
          <p:cNvSpPr txBox="1"/>
          <p:nvPr/>
        </p:nvSpPr>
        <p:spPr>
          <a:xfrm>
            <a:off x="10777728" y="17020540"/>
            <a:ext cx="8720328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with clean boxes, median [IQR] in pixels at 1024²; lower is better. In-domain and close-OOD medians are 0–7 px for every method.</a:t>
            </a:r>
            <a:endParaRPr lang="en-US" sz="19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77728" y="17802860"/>
          <a:ext cx="87203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897124"/>
                <a:gridCol w="2897124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 (far-OOD)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CBIS-DDSM (far-OOD)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[9, 25]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[7, 17]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[2, 17]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[3, 6]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VPT-shallow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[5, 387]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[8, 37]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VPT-deep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[6, 394]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[10, 359]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[6, 402]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[13, 438]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 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[1, 11]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[3, 7]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[1, 13]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[3, 6]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67" name="Text 50"/>
          <p:cNvSpPr txBox="1"/>
          <p:nvPr/>
        </p:nvSpPr>
        <p:spPr>
          <a:xfrm>
            <a:off x="10777728" y="2158746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68" name="Text 51"/>
          <p:cNvSpPr txBox="1"/>
          <p:nvPr/>
        </p:nvSpPr>
        <p:spPr>
          <a:xfrm>
            <a:off x="11126978" y="21587460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LoRA and VPT the upper quartile reaches </a:t>
            </a:r>
            <a:pPr indent="0" marL="0">
              <a:buNone/>
            </a:pPr>
            <a:r>
              <a:rPr lang="en-US" sz="25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px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quarter of far-OOD cases segment the wrong structure entirely. The Dice gap to Full FT is ~0.12; the boundary gap is more than tenfold.</a:t>
            </a:r>
            <a:endParaRPr lang="en-US" sz="2500" dirty="0"/>
          </a:p>
        </p:txBody>
      </p:sp>
      <p:sp>
        <p:nvSpPr>
          <p:cNvPr id="69" name="Text 53"/>
          <p:cNvSpPr txBox="1"/>
          <p:nvPr/>
        </p:nvSpPr>
        <p:spPr>
          <a:xfrm>
            <a:off x="10777728" y="24237188"/>
            <a:ext cx="8720328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Train with random 0–100 px jitter</a:t>
            </a:r>
            <a:endParaRPr lang="en-US" sz="3400" dirty="0"/>
          </a:p>
        </p:txBody>
      </p:sp>
      <p:sp>
        <p:nvSpPr>
          <p:cNvPr id="70" name="Text 54"/>
          <p:cNvSpPr txBox="1"/>
          <p:nvPr/>
        </p:nvSpPr>
        <p:spPr>
          <a:xfrm>
            <a:off x="10777728" y="25419812"/>
            <a:ext cx="8720328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Dice gain over zero-shot: trained with clean boxes → trained with random 0–100 px jitter</a:t>
            </a:r>
            <a:endParaRPr lang="en-US" sz="19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77728" y="26202132"/>
          <a:ext cx="872032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44776"/>
                <a:gridCol w="2144776"/>
                <a:gridCol w="214477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Far-OOD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 → +0.034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−0.014 → −0.029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−0.009 → +0.013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 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−0.027 → +0.053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−0.024 → −0.054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 → +0.007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+0.012 → +0.035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−0.142 → −0.228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−0.038 → −0.051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 → +0.014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−0.036 → −0.088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−0.023 → −0.022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VPT-shallow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 → +0.009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−0.127 → −0.230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−0.048 → −0.071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VPT-deep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−0.010 → +0.013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−0.126 → −0.198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−0.049 → −0.058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Text 55"/>
          <p:cNvSpPr txBox="1"/>
          <p:nvPr/>
        </p:nvSpPr>
        <p:spPr>
          <a:xfrm>
            <a:off x="10777728" y="29834332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73" name="Text 56"/>
          <p:cNvSpPr txBox="1"/>
          <p:nvPr/>
        </p:nvSpPr>
        <p:spPr>
          <a:xfrm>
            <a:off x="11126978" y="29834332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training restores in-domain and close-OOD robustness for every adapter (Full FT at 200 px: 0.712 → 0.839; encoder-only LoRA: 0.645 → 0.789). Fixed 20 px training overfits one noise level.</a:t>
            </a:r>
            <a:endParaRPr lang="en-US" sz="2500" dirty="0"/>
          </a:p>
        </p:txBody>
      </p:sp>
      <p:sp>
        <p:nvSpPr>
          <p:cNvPr id="74" name="Text 57"/>
          <p:cNvSpPr txBox="1"/>
          <p:nvPr/>
        </p:nvSpPr>
        <p:spPr>
          <a:xfrm>
            <a:off x="10777728" y="3161538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75" name="Text 58"/>
          <p:cNvSpPr txBox="1"/>
          <p:nvPr/>
        </p:nvSpPr>
        <p:spPr>
          <a:xfrm>
            <a:off x="11126978" y="31615380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far-OOD Dice. The cost is </a:t>
            </a:r>
            <a:pPr indent="0" marL="0">
              <a:buNone/>
            </a:pPr>
            <a:r>
              <a:rPr lang="en-US" sz="2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Full FT and encoder-only LoRA, </a:t>
            </a:r>
            <a:pPr indent="0" marL="0">
              <a:buNone/>
            </a:pPr>
            <a:r>
              <a:rPr lang="en-US" sz="25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LoRA, VPT and decoder-only (LoRA on mammography: 0.509 → 0.214).</a:t>
            </a:r>
            <a:endParaRPr lang="en-US" sz="2500" dirty="0"/>
          </a:p>
        </p:txBody>
      </p:sp>
      <p:sp>
        <p:nvSpPr>
          <p:cNvPr id="76" name="Text 59"/>
          <p:cNvSpPr txBox="1"/>
          <p:nvPr/>
        </p:nvSpPr>
        <p:spPr>
          <a:xfrm>
            <a:off x="10777728" y="32990028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77" name="Text 60"/>
          <p:cNvSpPr txBox="1"/>
          <p:nvPr/>
        </p:nvSpPr>
        <p:spPr>
          <a:xfrm>
            <a:off x="11126978" y="32990028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Full FT and encoder-only LoRA end up above zero-shot overall.</a:t>
            </a:r>
            <a:endParaRPr lang="en-US" sz="2500" dirty="0"/>
          </a:p>
        </p:txBody>
      </p:sp>
      <p:pic>
        <p:nvPicPr>
          <p:cNvPr id="78" name="Image 6" descr="/Users/imsounic/medsam-vpt/figures/paper_visuals/degradation_cur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7728" y="34095436"/>
            <a:ext cx="8720328" cy="6162755"/>
          </a:xfrm>
          <a:prstGeom prst="rect">
            <a:avLst/>
          </a:prstGeom>
        </p:spPr>
      </p:pic>
      <p:sp>
        <p:nvSpPr>
          <p:cNvPr id="79" name="Text 61"/>
          <p:cNvSpPr txBox="1"/>
          <p:nvPr/>
        </p:nvSpPr>
        <p:spPr>
          <a:xfrm>
            <a:off x="10777728" y="40331343"/>
            <a:ext cx="872032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 Dice vs evaluation jitter per training regime (solid: clean, dashed: fixed 20 px, dotted: random 0–100 px). Dotted curves are flattest in-domain and lowest on CBIS-DDSM.</a:t>
            </a:r>
            <a:endParaRPr lang="en-US" sz="1900" dirty="0"/>
          </a:p>
        </p:txBody>
      </p:sp>
      <p:sp>
        <p:nvSpPr>
          <p:cNvPr id="80" name="Text 63"/>
          <p:cNvSpPr txBox="1"/>
          <p:nvPr/>
        </p:nvSpPr>
        <p:spPr>
          <a:xfrm>
            <a:off x="20549616" y="6080760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adaptation fail far-OOD?</a:t>
            </a:r>
            <a:endParaRPr lang="en-US" sz="3400" dirty="0"/>
          </a:p>
        </p:txBody>
      </p:sp>
      <p:sp>
        <p:nvSpPr>
          <p:cNvPr id="81" name="Text 64"/>
          <p:cNvSpPr txBox="1"/>
          <p:nvPr/>
        </p:nvSpPr>
        <p:spPr>
          <a:xfrm>
            <a:off x="20549616" y="6745224"/>
            <a:ext cx="8720328" cy="210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CKA scores how similar a layer's activations are before and after adaptation (1 = unchanged). We compute it per component against zero-shot MedSAM on the same images and ask whose drift predicts the far-OOD loss, i.e. which part of the model may change.</a:t>
            </a:r>
            <a:endParaRPr lang="en-US" sz="2500" dirty="0"/>
          </a:p>
        </p:txBody>
      </p:sp>
      <p:sp>
        <p:nvSpPr>
          <p:cNvPr id="82" name="Text 65"/>
          <p:cNvSpPr txBox="1"/>
          <p:nvPr/>
        </p:nvSpPr>
        <p:spPr>
          <a:xfrm>
            <a:off x="20549616" y="8896096"/>
            <a:ext cx="872032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between linear CKA (adapted vs zero-shot MedSAM) and Dice gain over zero-shot. n = 3,000 pooled observations; FDR-corrected * q&lt;0.05, *** q&lt;0.001</a:t>
            </a:r>
            <a:endParaRPr lang="en-US" sz="19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549616" y="9987280"/>
          <a:ext cx="87203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09496"/>
                <a:gridCol w="1809496"/>
                <a:gridCol w="180949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CKA feature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Close-OOD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Far-OOD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token layer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layer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layers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 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Upscaled embedding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 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layers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−0.28 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−0.28 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8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2"/>
                    </a:solidFill>
                  </a:tcPr>
                </a:tc>
              </a:tr>
            </a:tbl>
          </a:graphicData>
        </a:graphic>
      </p:graphicFrame>
      <p:sp>
        <p:nvSpPr>
          <p:cNvPr id="84" name="Text 66"/>
          <p:cNvSpPr txBox="1"/>
          <p:nvPr/>
        </p:nvSpPr>
        <p:spPr>
          <a:xfrm>
            <a:off x="20549616" y="1288288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85" name="Text 67"/>
          <p:cNvSpPr txBox="1"/>
          <p:nvPr/>
        </p:nvSpPr>
        <p:spPr>
          <a:xfrm>
            <a:off x="20898866" y="12882880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Decoder-side similarity predicts far-OOD gain; encoder similarity does not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(and is weakly negative in-domain).</a:t>
            </a:r>
            <a:endParaRPr lang="en-US" sz="2500" dirty="0"/>
          </a:p>
        </p:txBody>
      </p:sp>
      <p:sp>
        <p:nvSpPr>
          <p:cNvPr id="86" name="Text 68"/>
          <p:cNvSpPr txBox="1"/>
          <p:nvPr/>
        </p:nvSpPr>
        <p:spPr>
          <a:xfrm>
            <a:off x="20549616" y="13851128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87" name="Text 69"/>
          <p:cNvSpPr txBox="1"/>
          <p:nvPr/>
        </p:nvSpPr>
        <p:spPr>
          <a:xfrm>
            <a:off x="20898866" y="13851128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CKA on CBIS-DDSM follows the Dice ranking exactly, from Full FT (0.95) down to LoRA (0.76).</a:t>
            </a:r>
            <a:endParaRPr lang="en-US" sz="2500" dirty="0"/>
          </a:p>
        </p:txBody>
      </p:sp>
      <p:sp>
        <p:nvSpPr>
          <p:cNvPr id="88" name="Text 70"/>
          <p:cNvSpPr txBox="1"/>
          <p:nvPr/>
        </p:nvSpPr>
        <p:spPr>
          <a:xfrm>
            <a:off x="20549616" y="14819376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89" name="Text 71"/>
          <p:cNvSpPr txBox="1"/>
          <p:nvPr/>
        </p:nvSpPr>
        <p:spPr>
          <a:xfrm>
            <a:off x="20898866" y="14819376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LoRA works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it adapts the encoder to the visual shift while preserving the decoder pathway.</a:t>
            </a:r>
            <a:endParaRPr lang="en-US" sz="2500" dirty="0"/>
          </a:p>
        </p:txBody>
      </p:sp>
      <p:pic>
        <p:nvPicPr>
          <p:cNvPr id="90" name="Image 7" descr="/Users/imsounic/medsam-vpt/miccai_safer_talk/pdf_images/p16_0_3044x109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49616" y="15924784"/>
            <a:ext cx="8720328" cy="3139776"/>
          </a:xfrm>
          <a:prstGeom prst="rect">
            <a:avLst/>
          </a:prstGeom>
        </p:spPr>
      </p:pic>
      <p:sp>
        <p:nvSpPr>
          <p:cNvPr id="91" name="Text 72"/>
          <p:cNvSpPr txBox="1"/>
          <p:nvPr/>
        </p:nvSpPr>
        <p:spPr>
          <a:xfrm>
            <a:off x="20549616" y="19137712"/>
            <a:ext cx="872032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 Linear CKA to zero-shot MedSAM per component (clean boxes). Encoder blocks drift for LoRA and encoder-only LoRA alike; the decoder attention, IoU and mask tokens collapse only for LoRA and VPT.</a:t>
            </a:r>
            <a:endParaRPr lang="en-US" sz="1900" dirty="0"/>
          </a:p>
        </p:txBody>
      </p:sp>
      <p:pic>
        <p:nvPicPr>
          <p:cNvPr id="92" name="Image 8" descr="/Users/imsounic/medsam-vpt/miccai_safer_talk/pdf_images/fig5_farood_cro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49616" y="20274616"/>
            <a:ext cx="4185757" cy="2811599"/>
          </a:xfrm>
          <a:prstGeom prst="rect">
            <a:avLst/>
          </a:prstGeom>
        </p:spPr>
      </p:pic>
      <p:sp>
        <p:nvSpPr>
          <p:cNvPr id="93" name="Text 73"/>
          <p:cNvSpPr txBox="1"/>
          <p:nvPr/>
        </p:nvSpPr>
        <p:spPr>
          <a:xfrm>
            <a:off x="25009693" y="20366056"/>
            <a:ext cx="4260251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5. </a:t>
            </a:r>
            <a:pPr algn="l" indent="0" marL="0">
              <a:buNone/>
            </a:pPr>
            <a:r>
              <a:rPr lang="en-US" sz="1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Far-OOD Dice gain vs overall CKA, one point per method × training jitter × evaluation jitter. Spearman 0.64. The lowest-similarity, lowest-gain cluster is LoRA and VPT; Full FT and encoder-only LoRA sit at the top right next to zero-shot.</a:t>
            </a:r>
            <a:endParaRPr lang="en-US" sz="1900" dirty="0"/>
          </a:p>
        </p:txBody>
      </p:sp>
      <p:sp>
        <p:nvSpPr>
          <p:cNvPr id="94" name="Text 75"/>
          <p:cNvSpPr txBox="1"/>
          <p:nvPr/>
        </p:nvSpPr>
        <p:spPr>
          <a:xfrm>
            <a:off x="20549616" y="23954896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do with MedSAM now</a:t>
            </a:r>
            <a:endParaRPr lang="en-US" sz="3400" dirty="0"/>
          </a:p>
        </p:txBody>
      </p:sp>
      <p:sp>
        <p:nvSpPr>
          <p:cNvPr id="95" name="Text 76"/>
          <p:cNvSpPr txBox="1"/>
          <p:nvPr/>
        </p:nvSpPr>
        <p:spPr>
          <a:xfrm>
            <a:off x="20549616" y="2461936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96" name="Text 77"/>
          <p:cNvSpPr txBox="1"/>
          <p:nvPr/>
        </p:nvSpPr>
        <p:spPr>
          <a:xfrm>
            <a:off x="20898866" y="24619360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compute available and far-OOD data expected, full fine-tuning at LR 1e-5 gives the best trade-off in every regime.</a:t>
            </a:r>
            <a:endParaRPr lang="en-US" sz="2500" dirty="0"/>
          </a:p>
        </p:txBody>
      </p:sp>
      <p:sp>
        <p:nvSpPr>
          <p:cNvPr id="97" name="Text 78"/>
          <p:cNvSpPr txBox="1"/>
          <p:nvPr/>
        </p:nvSpPr>
        <p:spPr>
          <a:xfrm>
            <a:off x="20549616" y="25994008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98" name="Text 79"/>
          <p:cNvSpPr txBox="1"/>
          <p:nvPr/>
        </p:nvSpPr>
        <p:spPr>
          <a:xfrm>
            <a:off x="20898866" y="25994008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parameter budget, </a:t>
            </a:r>
            <a:pPr indent="0" marL="0">
              <a:buNone/>
            </a:pPr>
            <a:r>
              <a:rPr lang="en-US" sz="2500" b="1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LoRA</a:t>
            </a:r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comes closest to Full FT far-OOD with 4.1M trainable parameters.</a:t>
            </a:r>
            <a:endParaRPr lang="en-US" sz="2500" dirty="0"/>
          </a:p>
        </p:txBody>
      </p:sp>
      <p:sp>
        <p:nvSpPr>
          <p:cNvPr id="99" name="Text 80"/>
          <p:cNvSpPr txBox="1"/>
          <p:nvPr/>
        </p:nvSpPr>
        <p:spPr>
          <a:xfrm>
            <a:off x="20549616" y="26962256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100" name="Text 81"/>
          <p:cNvSpPr txBox="1"/>
          <p:nvPr/>
        </p:nvSpPr>
        <p:spPr>
          <a:xfrm>
            <a:off x="20898866" y="26962256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target domain with clean prompts, standard LoRA still gives the largest in-domain and close-OOD gains.</a:t>
            </a:r>
            <a:endParaRPr lang="en-US" sz="2500" dirty="0"/>
          </a:p>
        </p:txBody>
      </p:sp>
      <p:sp>
        <p:nvSpPr>
          <p:cNvPr id="101" name="Text 82"/>
          <p:cNvSpPr txBox="1"/>
          <p:nvPr/>
        </p:nvSpPr>
        <p:spPr>
          <a:xfrm>
            <a:off x="20549616" y="28336904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102" name="Text 83"/>
          <p:cNvSpPr txBox="1"/>
          <p:nvPr/>
        </p:nvSpPr>
        <p:spPr>
          <a:xfrm>
            <a:off x="20898866" y="28336904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adapter, train with random 0–100 px box jitter; fixed jitter overfits one noise level.</a:t>
            </a:r>
            <a:endParaRPr lang="en-US" sz="2500" dirty="0"/>
          </a:p>
        </p:txBody>
      </p:sp>
      <p:sp>
        <p:nvSpPr>
          <p:cNvPr id="103" name="Text 84"/>
          <p:cNvSpPr txBox="1"/>
          <p:nvPr/>
        </p:nvSpPr>
        <p:spPr>
          <a:xfrm>
            <a:off x="20549616" y="29305152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104" name="Text 85"/>
          <p:cNvSpPr txBox="1"/>
          <p:nvPr/>
        </p:nvSpPr>
        <p:spPr>
          <a:xfrm>
            <a:off x="20898866" y="29305152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VPT on MedSAM is not worth it. The in-domain gain is negligible and the far-OOD loss is large.</a:t>
            </a:r>
            <a:endParaRPr lang="en-US" sz="2500" dirty="0"/>
          </a:p>
        </p:txBody>
      </p:sp>
      <p:sp>
        <p:nvSpPr>
          <p:cNvPr id="105" name="Text 86"/>
          <p:cNvSpPr txBox="1"/>
          <p:nvPr/>
        </p:nvSpPr>
        <p:spPr>
          <a:xfrm>
            <a:off x="20549616" y="3027340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500" dirty="0"/>
          </a:p>
        </p:txBody>
      </p:sp>
      <p:sp>
        <p:nvSpPr>
          <p:cNvPr id="106" name="Text 87"/>
          <p:cNvSpPr txBox="1"/>
          <p:nvPr/>
        </p:nvSpPr>
        <p:spPr>
          <a:xfrm>
            <a:off x="20898866" y="30273400"/>
            <a:ext cx="8371078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severe prompt noise far-OOD, zero-shot MedSAM is still hard to beat and remains the fallback.</a:t>
            </a:r>
            <a:endParaRPr lang="en-US" sz="2500" dirty="0"/>
          </a:p>
        </p:txBody>
      </p:sp>
      <p:sp>
        <p:nvSpPr>
          <p:cNvPr id="107" name="Text 89"/>
          <p:cNvSpPr txBox="1"/>
          <p:nvPr/>
        </p:nvSpPr>
        <p:spPr>
          <a:xfrm>
            <a:off x="20549616" y="32110328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108" name="Text 90"/>
          <p:cNvSpPr txBox="1"/>
          <p:nvPr/>
        </p:nvSpPr>
        <p:spPr>
          <a:xfrm>
            <a:off x="20549616" y="32774792"/>
            <a:ext cx="26543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00" dirty="0"/>
          </a:p>
        </p:txBody>
      </p:sp>
      <p:sp>
        <p:nvSpPr>
          <p:cNvPr id="109" name="Text 91"/>
          <p:cNvSpPr txBox="1"/>
          <p:nvPr/>
        </p:nvSpPr>
        <p:spPr>
          <a:xfrm>
            <a:off x="20815046" y="32774792"/>
            <a:ext cx="8454898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domain and two far-OOD targets: modality shift is confounded with lesion-type mismatch. Read the ranking, not the absolute Dice.</a:t>
            </a:r>
            <a:endParaRPr lang="en-US" sz="1900" dirty="0"/>
          </a:p>
        </p:txBody>
      </p:sp>
      <p:sp>
        <p:nvSpPr>
          <p:cNvPr id="110" name="Text 92"/>
          <p:cNvSpPr txBox="1"/>
          <p:nvPr/>
        </p:nvSpPr>
        <p:spPr>
          <a:xfrm>
            <a:off x="20549616" y="33547968"/>
            <a:ext cx="26543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00" dirty="0"/>
          </a:p>
        </p:txBody>
      </p:sp>
      <p:sp>
        <p:nvSpPr>
          <p:cNvPr id="111" name="Text 93"/>
          <p:cNvSpPr txBox="1"/>
          <p:nvPr/>
        </p:nvSpPr>
        <p:spPr>
          <a:xfrm>
            <a:off x="20815046" y="33547968"/>
            <a:ext cx="8454898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pixel jitter is a harder task far-OOD (+152% box area on ISIC vs +1,328% on CBIS-DDSM at 200 px).</a:t>
            </a:r>
            <a:endParaRPr lang="en-US" sz="1900" dirty="0"/>
          </a:p>
        </p:txBody>
      </p:sp>
      <p:sp>
        <p:nvSpPr>
          <p:cNvPr id="112" name="Text 94"/>
          <p:cNvSpPr txBox="1"/>
          <p:nvPr/>
        </p:nvSpPr>
        <p:spPr>
          <a:xfrm>
            <a:off x="20549616" y="34321144"/>
            <a:ext cx="26543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900" dirty="0"/>
          </a:p>
        </p:txBody>
      </p:sp>
      <p:sp>
        <p:nvSpPr>
          <p:cNvPr id="113" name="Text 95"/>
          <p:cNvSpPr txBox="1"/>
          <p:nvPr/>
        </p:nvSpPr>
        <p:spPr>
          <a:xfrm>
            <a:off x="20815046" y="34321144"/>
            <a:ext cx="8454898" cy="66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observations are not independent; the effective sample size is well below n = 3,000. Fixed recipe: 5 epochs, LoRA rank 8, 10 prompt tokens.</a:t>
            </a:r>
            <a:endParaRPr lang="en-US" sz="1900" dirty="0"/>
          </a:p>
        </p:txBody>
      </p:sp>
      <p:sp>
        <p:nvSpPr>
          <p:cNvPr id="114" name="Text 97"/>
          <p:cNvSpPr txBox="1"/>
          <p:nvPr/>
        </p:nvSpPr>
        <p:spPr>
          <a:xfrm>
            <a:off x="20549616" y="35963000"/>
            <a:ext cx="872032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3400" dirty="0"/>
          </a:p>
        </p:txBody>
      </p:sp>
      <p:sp>
        <p:nvSpPr>
          <p:cNvPr id="115" name="Text 98"/>
          <p:cNvSpPr txBox="1"/>
          <p:nvPr/>
        </p:nvSpPr>
        <p:spPr>
          <a:xfrm>
            <a:off x="20549616" y="36627464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500" dirty="0"/>
          </a:p>
        </p:txBody>
      </p:sp>
      <p:sp>
        <p:nvSpPr>
          <p:cNvPr id="116" name="Text 99"/>
          <p:cNvSpPr txBox="1"/>
          <p:nvPr/>
        </p:nvSpPr>
        <p:spPr>
          <a:xfrm>
            <a:off x="20898866" y="36627464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can hurt. </a:t>
            </a:r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and VPT beat zero-shot in-domain and fall below it on far-OOD modalities, with boundary errors in the hundreds of pixels.</a:t>
            </a:r>
            <a:endParaRPr lang="en-US" sz="2500" dirty="0"/>
          </a:p>
        </p:txBody>
      </p:sp>
      <p:sp>
        <p:nvSpPr>
          <p:cNvPr id="117" name="Text 100"/>
          <p:cNvSpPr txBox="1"/>
          <p:nvPr/>
        </p:nvSpPr>
        <p:spPr>
          <a:xfrm>
            <a:off x="20549616" y="38002112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500" dirty="0"/>
          </a:p>
        </p:txBody>
      </p:sp>
      <p:sp>
        <p:nvSpPr>
          <p:cNvPr id="118" name="Text 101"/>
          <p:cNvSpPr txBox="1"/>
          <p:nvPr/>
        </p:nvSpPr>
        <p:spPr>
          <a:xfrm>
            <a:off x="20898866" y="38002112"/>
            <a:ext cx="8371078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noise must be trained for. </a:t>
            </a:r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0–100 px jitter gives the most reliable adapters; only Full FT and encoder-only LoRA end above zero-shot overall.</a:t>
            </a:r>
            <a:endParaRPr lang="en-US" sz="2500" dirty="0"/>
          </a:p>
        </p:txBody>
      </p:sp>
      <p:sp>
        <p:nvSpPr>
          <p:cNvPr id="119" name="Text 102"/>
          <p:cNvSpPr txBox="1"/>
          <p:nvPr/>
        </p:nvSpPr>
        <p:spPr>
          <a:xfrm>
            <a:off x="20549616" y="39376760"/>
            <a:ext cx="3492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500" dirty="0"/>
          </a:p>
        </p:txBody>
      </p:sp>
      <p:sp>
        <p:nvSpPr>
          <p:cNvPr id="120" name="Text 103"/>
          <p:cNvSpPr txBox="1"/>
          <p:nvPr/>
        </p:nvSpPr>
        <p:spPr>
          <a:xfrm>
            <a:off x="20898866" y="39376760"/>
            <a:ext cx="8371078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is the locus. </a:t>
            </a:r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decoder and output representations predicts far-OOD robustness (ρ ≈ 0.73–0.76); encoder similarity does not (ρ = 0.09). Encoder-only LoRA is the CKA-informed adapter.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Adaptation Hurts — MICCAI 2026 SAFER poster</dc:title>
  <dc:subject>PptxGenJS Presentation</dc:subject>
  <dc:creator>Haralović, Akkaraju, Baretta, Zapryanov, Briassouli</dc:creator>
  <cp:lastModifiedBy>Haralović, Akkaraju, Baretta, Zapryanov, Briassouli</cp:lastModifiedBy>
  <cp:revision>1</cp:revision>
  <dcterms:created xsi:type="dcterms:W3CDTF">2026-09-23T17:59:16Z</dcterms:created>
  <dcterms:modified xsi:type="dcterms:W3CDTF">2026-09-23T17:59:16Z</dcterms:modified>
</cp:coreProperties>
</file>